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9" d="100"/>
          <a:sy n="109" d="100"/>
        </p:scale>
        <p:origin x="100"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4114800" cy="6858000"/>
          </a:xfrm>
          <a:prstGeom prst="rect">
            <a:avLst/>
          </a:prstGeom>
          <a:solidFill>
            <a:srgbClr val="0F2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371600"/>
            <a:ext cx="3383280" cy="4114800"/>
          </a:xfrm>
          <a:prstGeom prst="rect">
            <a:avLst/>
          </a:prstGeom>
          <a:noFill/>
        </p:spPr>
        <p:txBody>
          <a:bodyPr wrap="square" lIns="0" tIns="0" rIns="0" bIns="0">
            <a:spAutoFit/>
          </a:bodyPr>
          <a:lstStyle/>
          <a:p>
            <a:pPr>
              <a:spcAft>
                <a:spcPts val="2400"/>
              </a:spcAft>
              <a:defRPr sz="2000" b="1">
                <a:solidFill>
                  <a:srgbClr val="FFFFFF"/>
                </a:solidFill>
                <a:latin typeface="Calibri"/>
              </a:defRPr>
            </a:pPr>
            <a:r>
              <a:t>SIH 2026</a:t>
            </a:r>
            <a:br/>
            <a:r>
              <a:t>PROBLEM STATEMENT 26178</a:t>
            </a:r>
          </a:p>
          <a:p>
            <a:pPr>
              <a:spcAft>
                <a:spcPts val="4000"/>
              </a:spcAft>
              <a:defRPr sz="1600">
                <a:solidFill>
                  <a:srgbClr val="EFF6FF"/>
                </a:solidFill>
                <a:latin typeface="Calibri"/>
              </a:defRPr>
            </a:pPr>
            <a:r>
              <a:t>Machine Learning Mini Project</a:t>
            </a:r>
            <a:br/>
            <a:r>
              <a:t>Project Review - I</a:t>
            </a:r>
          </a:p>
          <a:p>
            <a:pPr>
              <a:defRPr sz="1400">
                <a:solidFill>
                  <a:srgbClr val="FFFFFF"/>
                </a:solidFill>
                <a:latin typeface="Calibri"/>
              </a:defRPr>
            </a:pPr>
            <a:r>
              <a:t>Department of CSE</a:t>
            </a:r>
            <a:br/>
            <a:r>
              <a:t>Academic Year: 2026-27</a:t>
            </a:r>
          </a:p>
        </p:txBody>
      </p:sp>
      <p:sp>
        <p:nvSpPr>
          <p:cNvPr id="5" name="TextBox 4"/>
          <p:cNvSpPr txBox="1"/>
          <p:nvPr/>
        </p:nvSpPr>
        <p:spPr>
          <a:xfrm>
            <a:off x="4572000" y="1371600"/>
            <a:ext cx="6858000" cy="4572000"/>
          </a:xfrm>
          <a:prstGeom prst="rect">
            <a:avLst/>
          </a:prstGeom>
          <a:noFill/>
        </p:spPr>
        <p:txBody>
          <a:bodyPr wrap="square" lIns="0" tIns="0" rIns="0" bIns="0">
            <a:spAutoFit/>
          </a:bodyPr>
          <a:lstStyle/>
          <a:p>
            <a:pPr>
              <a:spcAft>
                <a:spcPts val="3600"/>
              </a:spcAft>
              <a:defRPr sz="2800" b="1">
                <a:solidFill>
                  <a:srgbClr val="0F2D59"/>
                </a:solidFill>
                <a:latin typeface="Calibri"/>
              </a:defRPr>
            </a:pPr>
            <a:r>
              <a:rPr dirty="0"/>
              <a:t>A Resilient, AI-Powered Environmental Monitoring Network for Early Hazard Detection</a:t>
            </a:r>
          </a:p>
          <a:p>
            <a:pPr>
              <a:defRPr sz="1400" b="1">
                <a:solidFill>
                  <a:srgbClr val="1E293B"/>
                </a:solidFill>
                <a:latin typeface="Calibri"/>
              </a:defRPr>
            </a:pPr>
            <a:r>
              <a:rPr dirty="0"/>
              <a:t>Submitted By:</a:t>
            </a:r>
            <a:br>
              <a:rPr dirty="0"/>
            </a:br>
            <a:endParaRPr dirty="0"/>
          </a:p>
          <a:p>
            <a:pPr>
              <a:defRPr sz="1300">
                <a:solidFill>
                  <a:srgbClr val="1E293B"/>
                </a:solidFill>
                <a:latin typeface="Calibri"/>
              </a:defRPr>
            </a:pPr>
            <a:r>
              <a:rPr dirty="0"/>
              <a:t>  • Sam (Reg. No: CSE-2026-01)</a:t>
            </a:r>
          </a:p>
          <a:p>
            <a:pPr>
              <a:defRPr sz="1300">
                <a:solidFill>
                  <a:srgbClr val="1E293B"/>
                </a:solidFill>
                <a:latin typeface="Calibri"/>
              </a:defRPr>
            </a:pPr>
            <a:r>
              <a:rPr dirty="0"/>
              <a:t>  • Alex (Reg. No: CSE-2026-02)</a:t>
            </a:r>
          </a:p>
          <a:p>
            <a:pPr>
              <a:defRPr sz="1300">
                <a:solidFill>
                  <a:srgbClr val="1E293B"/>
                </a:solidFill>
                <a:latin typeface="Calibri"/>
              </a:defRPr>
            </a:pPr>
            <a:r>
              <a:rPr dirty="0"/>
              <a:t>  • Jordan (Reg. No: CSE-2026-03)</a:t>
            </a:r>
          </a:p>
          <a:p>
            <a:pPr>
              <a:spcAft>
                <a:spcPts val="2000"/>
              </a:spcAft>
            </a:pPr>
            <a:endParaRPr dirty="0"/>
          </a:p>
          <a:p>
            <a:pPr>
              <a:defRPr sz="1300" b="1">
                <a:solidFill>
                  <a:srgbClr val="1E293B"/>
                </a:solidFill>
                <a:latin typeface="Calibri"/>
              </a:defRPr>
            </a:pPr>
            <a:r>
              <a:rPr dirty="0"/>
              <a:t>Project Guide:</a:t>
            </a:r>
            <a:br>
              <a:rPr dirty="0"/>
            </a:br>
            <a:r>
              <a:rPr dirty="0"/>
              <a:t>  Dr. A. K. Sharma, Professor, Dept. of CSE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000" b="1">
                <a:solidFill>
                  <a:srgbClr val="0F2D59"/>
                </a:solidFill>
                <a:latin typeface="Calibri"/>
              </a:defRPr>
            </a:pPr>
            <a:r>
              <a:t>Abstract</a:t>
            </a:r>
          </a:p>
        </p:txBody>
      </p:sp>
      <p:sp>
        <p:nvSpPr>
          <p:cNvPr id="4" name="TextBox 3"/>
          <p:cNvSpPr txBox="1"/>
          <p:nvPr/>
        </p:nvSpPr>
        <p:spPr>
          <a:xfrm>
            <a:off x="731520" y="1645920"/>
            <a:ext cx="6858000" cy="4572000"/>
          </a:xfrm>
          <a:prstGeom prst="rect">
            <a:avLst/>
          </a:prstGeom>
          <a:noFill/>
        </p:spPr>
        <p:txBody>
          <a:bodyPr wrap="square" lIns="0" tIns="0" rIns="0" bIns="0">
            <a:spAutoFit/>
          </a:bodyPr>
          <a:lstStyle/>
          <a:p>
            <a:pPr>
              <a:lnSpc>
                <a:spcPct val="130000"/>
              </a:lnSpc>
              <a:defRPr sz="1400">
                <a:solidFill>
                  <a:srgbClr val="1E293B"/>
                </a:solidFill>
                <a:latin typeface="Calibri"/>
              </a:defRPr>
            </a:pPr>
            <a:r>
              <a:t>Environmental hazards such as flash floods, forest fires, and localized air pollution pose significant risks to human life, agriculture, and infrastructure across India. Traditional disaster management relies on reactive mitigation, which often results in delayed warnings and increased damage. This project proposes a resilient, AI-powered environmental monitoring network to transition disaster management from reactive response to proactive prevention. Using low-cost hardware sensor nodes (ESP32, DHT11, MQ135) and machine learning classification algorithms (such as Random Forest and XGBoost), the system collects real-time environmental parameters including temperature, humidity, gas concentration, and water level. The machine learning models process this localized telemetry to detect anomalies and predict impending hazards. The expected outcome is a localized, battery-efficient network that delivers early, actionable alerts to local authorities and communities via a web dashboard, minimizing response times and saving lives.</a:t>
            </a:r>
          </a:p>
        </p:txBody>
      </p:sp>
      <p:sp>
        <p:nvSpPr>
          <p:cNvPr id="5" name="Rounded Rectangle 4"/>
          <p:cNvSpPr/>
          <p:nvPr/>
        </p:nvSpPr>
        <p:spPr>
          <a:xfrm>
            <a:off x="8229600" y="1645920"/>
            <a:ext cx="3200400" cy="4114800"/>
          </a:xfrm>
          <a:prstGeom prst="roundRect">
            <a:avLst/>
          </a:prstGeom>
          <a:solidFill>
            <a:srgbClr val="FFFFFF"/>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spcAft>
                <a:spcPts val="1400"/>
              </a:spcAft>
              <a:defRPr sz="1600" b="1">
                <a:solidFill>
                  <a:srgbClr val="0F2D59"/>
                </a:solidFill>
                <a:latin typeface="Calibri"/>
              </a:defRPr>
            </a:pPr>
            <a:r>
              <a:t>Key Focus Areas</a:t>
            </a:r>
          </a:p>
          <a:p>
            <a:pPr>
              <a:spcAft>
                <a:spcPts val="1000"/>
              </a:spcAft>
              <a:defRPr sz="1200">
                <a:solidFill>
                  <a:srgbClr val="1E293B"/>
                </a:solidFill>
                <a:latin typeface="Calibri"/>
              </a:defRPr>
            </a:pPr>
            <a:r>
              <a:t>• Hazards Checked: Forest fires, flash floods, and pollution levels.</a:t>
            </a:r>
          </a:p>
          <a:p>
            <a:pPr>
              <a:spcAft>
                <a:spcPts val="1000"/>
              </a:spcAft>
              <a:defRPr sz="1200">
                <a:solidFill>
                  <a:srgbClr val="1E293B"/>
                </a:solidFill>
                <a:latin typeface="Calibri"/>
              </a:defRPr>
            </a:pPr>
            <a:r>
              <a:t>• Hardware Used: ESP32 node, LoRa RFM95W link, gas, and DHT sensors.</a:t>
            </a:r>
          </a:p>
          <a:p>
            <a:pPr>
              <a:spcAft>
                <a:spcPts val="1000"/>
              </a:spcAft>
              <a:defRPr sz="1200">
                <a:solidFill>
                  <a:srgbClr val="1E293B"/>
                </a:solidFill>
                <a:latin typeface="Calibri"/>
              </a:defRPr>
            </a:pPr>
            <a:r>
              <a:t>• Intelligence Core: Supervised ML Classifier (Random Forest).</a:t>
            </a:r>
          </a:p>
          <a:p>
            <a:pPr>
              <a:spcAft>
                <a:spcPts val="1000"/>
              </a:spcAft>
              <a:defRPr sz="1200">
                <a:solidFill>
                  <a:srgbClr val="1E293B"/>
                </a:solidFill>
                <a:latin typeface="Calibri"/>
              </a:defRPr>
            </a:pPr>
            <a:r>
              <a:t>• Primary Output: Direct warning buzzers and server dashboard visualization.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000" b="1">
                <a:solidFill>
                  <a:srgbClr val="0F2D59"/>
                </a:solidFill>
                <a:latin typeface="Calibri"/>
              </a:defRPr>
            </a:pPr>
            <a:r>
              <a:t>Introduction</a:t>
            </a:r>
          </a:p>
        </p:txBody>
      </p:sp>
      <p:sp>
        <p:nvSpPr>
          <p:cNvPr id="4" name="TextBox 3"/>
          <p:cNvSpPr txBox="1"/>
          <p:nvPr/>
        </p:nvSpPr>
        <p:spPr>
          <a:xfrm>
            <a:off x="731520" y="1645920"/>
            <a:ext cx="10728655" cy="4572000"/>
          </a:xfrm>
          <a:prstGeom prst="rect">
            <a:avLst/>
          </a:prstGeom>
          <a:noFill/>
        </p:spPr>
        <p:txBody>
          <a:bodyPr wrap="square" lIns="0" tIns="0" rIns="0" bIns="0">
            <a:spAutoFit/>
          </a:bodyPr>
          <a:lstStyle/>
          <a:p>
            <a:pPr>
              <a:spcAft>
                <a:spcPts val="1000"/>
              </a:spcAft>
              <a:defRPr sz="1500">
                <a:solidFill>
                  <a:srgbClr val="1E293B"/>
                </a:solidFill>
                <a:latin typeface="Calibri"/>
              </a:defRPr>
            </a:pPr>
            <a:r>
              <a:rPr b="1">
                <a:solidFill>
                  <a:srgbClr val="0F2D59"/>
                </a:solidFill>
              </a:rPr>
              <a:t>• Environmental Monitoring Needs:</a:t>
            </a:r>
            <a:r>
              <a:rPr b="0">
                <a:solidFill>
                  <a:srgbClr val="1E293B"/>
                </a:solidFill>
              </a:rPr>
              <a:t> Climate shifts have increased sudden environmental threats like localized flash floods and forest fires across India.</a:t>
            </a:r>
          </a:p>
          <a:p>
            <a:pPr>
              <a:spcAft>
                <a:spcPts val="1000"/>
              </a:spcAft>
              <a:defRPr sz="1500">
                <a:solidFill>
                  <a:srgbClr val="1E293B"/>
                </a:solidFill>
                <a:latin typeface="Calibri"/>
              </a:defRPr>
            </a:pPr>
            <a:r>
              <a:rPr b="1">
                <a:solidFill>
                  <a:srgbClr val="0F2D59"/>
                </a:solidFill>
              </a:rPr>
              <a:t>• The Reactive Response Gap:</a:t>
            </a:r>
            <a:r>
              <a:rPr b="0">
                <a:solidFill>
                  <a:srgbClr val="1E293B"/>
                </a:solidFill>
              </a:rPr>
              <a:t> Traditional emergency systems focus on recovery. A major delay exists between disaster occurrence and warning transmission.</a:t>
            </a:r>
          </a:p>
          <a:p>
            <a:pPr>
              <a:spcAft>
                <a:spcPts val="1000"/>
              </a:spcAft>
              <a:defRPr sz="1500">
                <a:solidFill>
                  <a:srgbClr val="1E293B"/>
                </a:solidFill>
                <a:latin typeface="Calibri"/>
              </a:defRPr>
            </a:pPr>
            <a:r>
              <a:rPr b="1">
                <a:solidFill>
                  <a:srgbClr val="0F2D59"/>
                </a:solidFill>
              </a:rPr>
              <a:t>• High-Density Mesh Networks:</a:t>
            </a:r>
            <a:r>
              <a:rPr b="0">
                <a:solidFill>
                  <a:srgbClr val="1E293B"/>
                </a:solidFill>
              </a:rPr>
              <a:t> Deploying dense networks of low-cost sensor nodes collects micro-climate telemetry that remote satellites fail to resolve.</a:t>
            </a:r>
          </a:p>
          <a:p>
            <a:pPr>
              <a:spcAft>
                <a:spcPts val="1000"/>
              </a:spcAft>
              <a:defRPr sz="1500">
                <a:solidFill>
                  <a:srgbClr val="1E293B"/>
                </a:solidFill>
                <a:latin typeface="Calibri"/>
              </a:defRPr>
            </a:pPr>
            <a:r>
              <a:rPr b="1">
                <a:solidFill>
                  <a:srgbClr val="0F2D59"/>
                </a:solidFill>
              </a:rPr>
              <a:t>• Edge Intelligence Integration:</a:t>
            </a:r>
            <a:r>
              <a:rPr b="0">
                <a:solidFill>
                  <a:srgbClr val="1E293B"/>
                </a:solidFill>
              </a:rPr>
              <a:t> Processing sensor parameters on edge hubs using machine learning allows multi-sensor correlation to detect hazard footprints.</a:t>
            </a:r>
          </a:p>
          <a:p>
            <a:pPr>
              <a:spcAft>
                <a:spcPts val="1000"/>
              </a:spcAft>
              <a:defRPr sz="1500">
                <a:solidFill>
                  <a:srgbClr val="1E293B"/>
                </a:solidFill>
                <a:latin typeface="Calibri"/>
              </a:defRPr>
            </a:pPr>
            <a:r>
              <a:rPr b="1">
                <a:solidFill>
                  <a:srgbClr val="0F2D59"/>
                </a:solidFill>
              </a:rPr>
              <a:t>• Communication Resilience:</a:t>
            </a:r>
            <a:r>
              <a:rPr b="0">
                <a:solidFill>
                  <a:srgbClr val="1E293B"/>
                </a:solidFill>
              </a:rPr>
              <a:t> Local warning states are relayed peer-to-peer over radio frequency (LoRa) links, bypassing collapsed cell towers.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000" b="1">
                <a:solidFill>
                  <a:srgbClr val="0F2D59"/>
                </a:solidFill>
                <a:latin typeface="Calibri"/>
              </a:defRPr>
            </a:pPr>
            <a:r>
              <a:t>Literature Survey</a:t>
            </a:r>
          </a:p>
        </p:txBody>
      </p:sp>
      <p:graphicFrame>
        <p:nvGraphicFramePr>
          <p:cNvPr id="4" name="Table 3"/>
          <p:cNvGraphicFramePr>
            <a:graphicFrameLocks noGrp="1"/>
          </p:cNvGraphicFramePr>
          <p:nvPr/>
        </p:nvGraphicFramePr>
        <p:xfrm>
          <a:off x="731520" y="1371600"/>
          <a:ext cx="10728655" cy="384048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gridCol w="3139135">
                  <a:extLst>
                    <a:ext uri="{9D8B030D-6E8A-4147-A177-3AD203B41FA5}">
                      <a16:colId xmlns:a16="http://schemas.microsoft.com/office/drawing/2014/main" val="20003"/>
                    </a:ext>
                  </a:extLst>
                </a:gridCol>
              </a:tblGrid>
              <a:tr h="640080">
                <a:tc>
                  <a:txBody>
                    <a:bodyPr/>
                    <a:lstStyle/>
                    <a:p>
                      <a:pPr algn="l">
                        <a:defRPr sz="1000" b="1">
                          <a:solidFill>
                            <a:srgbClr val="FFFFFF"/>
                          </a:solidFill>
                          <a:latin typeface="Calibri"/>
                        </a:defRPr>
                      </a:pPr>
                      <a:r>
                        <a:t>Author &amp; Year</a:t>
                      </a:r>
                    </a:p>
                  </a:txBody>
                  <a:tcPr>
                    <a:solidFill>
                      <a:srgbClr val="0F2D59"/>
                    </a:solidFill>
                  </a:tcPr>
                </a:tc>
                <a:tc>
                  <a:txBody>
                    <a:bodyPr/>
                    <a:lstStyle/>
                    <a:p>
                      <a:pPr algn="l">
                        <a:defRPr sz="1000" b="1">
                          <a:solidFill>
                            <a:srgbClr val="FFFFFF"/>
                          </a:solidFill>
                          <a:latin typeface="Calibri"/>
                        </a:defRPr>
                      </a:pPr>
                      <a:r>
                        <a:t>Method / Technology</a:t>
                      </a:r>
                    </a:p>
                  </a:txBody>
                  <a:tcPr>
                    <a:solidFill>
                      <a:srgbClr val="0F2D59"/>
                    </a:solidFill>
                  </a:tcPr>
                </a:tc>
                <a:tc>
                  <a:txBody>
                    <a:bodyPr/>
                    <a:lstStyle/>
                    <a:p>
                      <a:pPr algn="l">
                        <a:defRPr sz="1000" b="1">
                          <a:solidFill>
                            <a:srgbClr val="FFFFFF"/>
                          </a:solidFill>
                          <a:latin typeface="Calibri"/>
                        </a:defRPr>
                      </a:pPr>
                      <a:r>
                        <a:t>Key Finding</a:t>
                      </a:r>
                    </a:p>
                  </a:txBody>
                  <a:tcPr>
                    <a:solidFill>
                      <a:srgbClr val="0F2D59"/>
                    </a:solidFill>
                  </a:tcPr>
                </a:tc>
                <a:tc>
                  <a:txBody>
                    <a:bodyPr/>
                    <a:lstStyle/>
                    <a:p>
                      <a:pPr algn="l">
                        <a:defRPr sz="1000" b="1">
                          <a:solidFill>
                            <a:srgbClr val="FFFFFF"/>
                          </a:solidFill>
                          <a:latin typeface="Calibri"/>
                        </a:defRPr>
                      </a:pPr>
                      <a:r>
                        <a:t>Limitation / Gap</a:t>
                      </a:r>
                    </a:p>
                  </a:txBody>
                  <a:tcPr>
                    <a:solidFill>
                      <a:srgbClr val="0F2D59"/>
                    </a:solidFill>
                  </a:tcPr>
                </a:tc>
                <a:extLst>
                  <a:ext uri="{0D108BD9-81ED-4DB2-BD59-A6C34878D82A}">
                    <a16:rowId xmlns:a16="http://schemas.microsoft.com/office/drawing/2014/main" val="10000"/>
                  </a:ext>
                </a:extLst>
              </a:tr>
              <a:tr h="640080">
                <a:tc>
                  <a:txBody>
                    <a:bodyPr/>
                    <a:lstStyle/>
                    <a:p>
                      <a:pPr algn="l">
                        <a:defRPr sz="1000" b="0">
                          <a:solidFill>
                            <a:srgbClr val="1E293B"/>
                          </a:solidFill>
                          <a:latin typeface="Calibri"/>
                        </a:defRPr>
                      </a:pPr>
                      <a:r>
                        <a:t>Kumar et al. (2022)</a:t>
                      </a:r>
                    </a:p>
                  </a:txBody>
                  <a:tcPr>
                    <a:solidFill>
                      <a:srgbClr val="FFFFFF"/>
                    </a:solidFill>
                  </a:tcPr>
                </a:tc>
                <a:tc>
                  <a:txBody>
                    <a:bodyPr/>
                    <a:lstStyle/>
                    <a:p>
                      <a:pPr algn="l">
                        <a:defRPr sz="1000" b="0">
                          <a:solidFill>
                            <a:srgbClr val="1E293B"/>
                          </a:solidFill>
                          <a:latin typeface="Calibri"/>
                        </a:defRPr>
                      </a:pPr>
                      <a:r>
                        <a:t>WSN + Thresholding</a:t>
                      </a:r>
                    </a:p>
                  </a:txBody>
                  <a:tcPr>
                    <a:solidFill>
                      <a:srgbClr val="FFFFFF"/>
                    </a:solidFill>
                  </a:tcPr>
                </a:tc>
                <a:tc>
                  <a:txBody>
                    <a:bodyPr/>
                    <a:lstStyle/>
                    <a:p>
                      <a:pPr algn="l">
                        <a:defRPr sz="1000" b="0">
                          <a:solidFill>
                            <a:srgbClr val="1E293B"/>
                          </a:solidFill>
                          <a:latin typeface="Calibri"/>
                        </a:defRPr>
                      </a:pPr>
                      <a:r>
                        <a:t>Basic fire detection via static sensor thresholds.</a:t>
                      </a:r>
                    </a:p>
                  </a:txBody>
                  <a:tcPr>
                    <a:solidFill>
                      <a:srgbClr val="FFFFFF"/>
                    </a:solidFill>
                  </a:tcPr>
                </a:tc>
                <a:tc>
                  <a:txBody>
                    <a:bodyPr/>
                    <a:lstStyle/>
                    <a:p>
                      <a:pPr algn="l">
                        <a:defRPr sz="1000" b="0">
                          <a:solidFill>
                            <a:srgbClr val="1E293B"/>
                          </a:solidFill>
                          <a:latin typeface="Calibri"/>
                        </a:defRPr>
                      </a:pPr>
                      <a:r>
                        <a:t>High false alarms due to lack of seasonal context correlation.</a:t>
                      </a:r>
                    </a:p>
                  </a:txBody>
                  <a:tcPr>
                    <a:solidFill>
                      <a:srgbClr val="FFFFFF"/>
                    </a:solidFill>
                  </a:tcPr>
                </a:tc>
                <a:extLst>
                  <a:ext uri="{0D108BD9-81ED-4DB2-BD59-A6C34878D82A}">
                    <a16:rowId xmlns:a16="http://schemas.microsoft.com/office/drawing/2014/main" val="10001"/>
                  </a:ext>
                </a:extLst>
              </a:tr>
              <a:tr h="640080">
                <a:tc>
                  <a:txBody>
                    <a:bodyPr/>
                    <a:lstStyle/>
                    <a:p>
                      <a:pPr algn="l">
                        <a:defRPr sz="1000" b="0">
                          <a:solidFill>
                            <a:srgbClr val="1E293B"/>
                          </a:solidFill>
                          <a:latin typeface="Calibri"/>
                        </a:defRPr>
                      </a:pPr>
                      <a:r>
                        <a:t>Sharma &amp; Patil (2023)</a:t>
                      </a:r>
                    </a:p>
                  </a:txBody>
                  <a:tcPr>
                    <a:solidFill>
                      <a:srgbClr val="EFF6FF"/>
                    </a:solidFill>
                  </a:tcPr>
                </a:tc>
                <a:tc>
                  <a:txBody>
                    <a:bodyPr/>
                    <a:lstStyle/>
                    <a:p>
                      <a:pPr algn="l">
                        <a:defRPr sz="1000" b="0">
                          <a:solidFill>
                            <a:srgbClr val="1E293B"/>
                          </a:solidFill>
                          <a:latin typeface="Calibri"/>
                        </a:defRPr>
                      </a:pPr>
                      <a:r>
                        <a:t>SVM Classifier</a:t>
                      </a:r>
                    </a:p>
                  </a:txBody>
                  <a:tcPr>
                    <a:solidFill>
                      <a:srgbClr val="EFF6FF"/>
                    </a:solidFill>
                  </a:tcPr>
                </a:tc>
                <a:tc>
                  <a:txBody>
                    <a:bodyPr/>
                    <a:lstStyle/>
                    <a:p>
                      <a:pPr algn="l">
                        <a:defRPr sz="1000" b="0">
                          <a:solidFill>
                            <a:srgbClr val="1E293B"/>
                          </a:solidFill>
                          <a:latin typeface="Calibri"/>
                        </a:defRPr>
                      </a:pPr>
                      <a:r>
                        <a:t>Flood prediction using river level telemetry.</a:t>
                      </a:r>
                    </a:p>
                  </a:txBody>
                  <a:tcPr>
                    <a:solidFill>
                      <a:srgbClr val="EFF6FF"/>
                    </a:solidFill>
                  </a:tcPr>
                </a:tc>
                <a:tc>
                  <a:txBody>
                    <a:bodyPr/>
                    <a:lstStyle/>
                    <a:p>
                      <a:pPr algn="l">
                        <a:defRPr sz="1000" b="0">
                          <a:solidFill>
                            <a:srgbClr val="1E293B"/>
                          </a:solidFill>
                          <a:latin typeface="Calibri"/>
                        </a:defRPr>
                      </a:pPr>
                      <a:r>
                        <a:t>Depends on cloud server; fails during network outages.</a:t>
                      </a:r>
                    </a:p>
                  </a:txBody>
                  <a:tcPr>
                    <a:solidFill>
                      <a:srgbClr val="EFF6FF"/>
                    </a:solidFill>
                  </a:tcPr>
                </a:tc>
                <a:extLst>
                  <a:ext uri="{0D108BD9-81ED-4DB2-BD59-A6C34878D82A}">
                    <a16:rowId xmlns:a16="http://schemas.microsoft.com/office/drawing/2014/main" val="10002"/>
                  </a:ext>
                </a:extLst>
              </a:tr>
              <a:tr h="640080">
                <a:tc>
                  <a:txBody>
                    <a:bodyPr/>
                    <a:lstStyle/>
                    <a:p>
                      <a:pPr algn="l">
                        <a:defRPr sz="1000" b="0">
                          <a:solidFill>
                            <a:srgbClr val="1E293B"/>
                          </a:solidFill>
                          <a:latin typeface="Calibri"/>
                        </a:defRPr>
                      </a:pPr>
                      <a:r>
                        <a:t>Nair et al. (2021)</a:t>
                      </a:r>
                    </a:p>
                  </a:txBody>
                  <a:tcPr>
                    <a:solidFill>
                      <a:srgbClr val="FFFFFF"/>
                    </a:solidFill>
                  </a:tcPr>
                </a:tc>
                <a:tc>
                  <a:txBody>
                    <a:bodyPr/>
                    <a:lstStyle/>
                    <a:p>
                      <a:pPr algn="l">
                        <a:defRPr sz="1000" b="0">
                          <a:solidFill>
                            <a:srgbClr val="1E293B"/>
                          </a:solidFill>
                          <a:latin typeface="Calibri"/>
                        </a:defRPr>
                      </a:pPr>
                      <a:r>
                        <a:t>Random Forest</a:t>
                      </a:r>
                    </a:p>
                  </a:txBody>
                  <a:tcPr>
                    <a:solidFill>
                      <a:srgbClr val="FFFFFF"/>
                    </a:solidFill>
                  </a:tcPr>
                </a:tc>
                <a:tc>
                  <a:txBody>
                    <a:bodyPr/>
                    <a:lstStyle/>
                    <a:p>
                      <a:pPr algn="l">
                        <a:defRPr sz="1000" b="0">
                          <a:solidFill>
                            <a:srgbClr val="1E293B"/>
                          </a:solidFill>
                          <a:latin typeface="Calibri"/>
                        </a:defRPr>
                      </a:pPr>
                      <a:r>
                        <a:t>Air quality indexing and PM2.5 forecasting.</a:t>
                      </a:r>
                    </a:p>
                  </a:txBody>
                  <a:tcPr>
                    <a:solidFill>
                      <a:srgbClr val="FFFFFF"/>
                    </a:solidFill>
                  </a:tcPr>
                </a:tc>
                <a:tc>
                  <a:txBody>
                    <a:bodyPr/>
                    <a:lstStyle/>
                    <a:p>
                      <a:pPr algn="l">
                        <a:defRPr sz="1000" b="0">
                          <a:solidFill>
                            <a:srgbClr val="1E293B"/>
                          </a:solidFill>
                          <a:latin typeface="Calibri"/>
                        </a:defRPr>
                      </a:pPr>
                      <a:r>
                        <a:t>High energy consumption; not suitable for battery nodes.</a:t>
                      </a:r>
                    </a:p>
                  </a:txBody>
                  <a:tcPr>
                    <a:solidFill>
                      <a:srgbClr val="FFFFFF"/>
                    </a:solidFill>
                  </a:tcPr>
                </a:tc>
                <a:extLst>
                  <a:ext uri="{0D108BD9-81ED-4DB2-BD59-A6C34878D82A}">
                    <a16:rowId xmlns:a16="http://schemas.microsoft.com/office/drawing/2014/main" val="10003"/>
                  </a:ext>
                </a:extLst>
              </a:tr>
              <a:tr h="640080">
                <a:tc>
                  <a:txBody>
                    <a:bodyPr/>
                    <a:lstStyle/>
                    <a:p>
                      <a:pPr algn="l">
                        <a:defRPr sz="1000" b="0">
                          <a:solidFill>
                            <a:srgbClr val="1E293B"/>
                          </a:solidFill>
                          <a:latin typeface="Calibri"/>
                        </a:defRPr>
                      </a:pPr>
                      <a:r>
                        <a:t>Singh et al. (2024)</a:t>
                      </a:r>
                    </a:p>
                  </a:txBody>
                  <a:tcPr>
                    <a:solidFill>
                      <a:srgbClr val="EFF6FF"/>
                    </a:solidFill>
                  </a:tcPr>
                </a:tc>
                <a:tc>
                  <a:txBody>
                    <a:bodyPr/>
                    <a:lstStyle/>
                    <a:p>
                      <a:pPr algn="l">
                        <a:defRPr sz="1000" b="0">
                          <a:solidFill>
                            <a:srgbClr val="1E293B"/>
                          </a:solidFill>
                          <a:latin typeface="Calibri"/>
                        </a:defRPr>
                      </a:pPr>
                      <a:r>
                        <a:t>IoT + Deep Learning</a:t>
                      </a:r>
                    </a:p>
                  </a:txBody>
                  <a:tcPr>
                    <a:solidFill>
                      <a:srgbClr val="EFF6FF"/>
                    </a:solidFill>
                  </a:tcPr>
                </a:tc>
                <a:tc>
                  <a:txBody>
                    <a:bodyPr/>
                    <a:lstStyle/>
                    <a:p>
                      <a:pPr algn="l">
                        <a:defRPr sz="1000" b="0">
                          <a:solidFill>
                            <a:srgbClr val="1E293B"/>
                          </a:solidFill>
                          <a:latin typeface="Calibri"/>
                        </a:defRPr>
                      </a:pPr>
                      <a:r>
                        <a:t>Flood risk prediction using LSTM models.</a:t>
                      </a:r>
                    </a:p>
                  </a:txBody>
                  <a:tcPr>
                    <a:solidFill>
                      <a:srgbClr val="EFF6FF"/>
                    </a:solidFill>
                  </a:tcPr>
                </a:tc>
                <a:tc>
                  <a:txBody>
                    <a:bodyPr/>
                    <a:lstStyle/>
                    <a:p>
                      <a:pPr algn="l">
                        <a:defRPr sz="1000" b="0">
                          <a:solidFill>
                            <a:srgbClr val="1E293B"/>
                          </a:solidFill>
                          <a:latin typeface="Calibri"/>
                        </a:defRPr>
                      </a:pPr>
                      <a:r>
                        <a:t>Heavy computational load; cannot run on edge controllers.</a:t>
                      </a:r>
                    </a:p>
                  </a:txBody>
                  <a:tcPr>
                    <a:solidFill>
                      <a:srgbClr val="EFF6FF"/>
                    </a:solidFill>
                  </a:tcPr>
                </a:tc>
                <a:extLst>
                  <a:ext uri="{0D108BD9-81ED-4DB2-BD59-A6C34878D82A}">
                    <a16:rowId xmlns:a16="http://schemas.microsoft.com/office/drawing/2014/main" val="10004"/>
                  </a:ext>
                </a:extLst>
              </a:tr>
              <a:tr h="640080">
                <a:tc>
                  <a:txBody>
                    <a:bodyPr/>
                    <a:lstStyle/>
                    <a:p>
                      <a:pPr algn="l">
                        <a:defRPr sz="1000" b="0">
                          <a:solidFill>
                            <a:srgbClr val="1E293B"/>
                          </a:solidFill>
                          <a:latin typeface="Calibri"/>
                        </a:defRPr>
                      </a:pPr>
                      <a:r>
                        <a:t>Patel (2023)</a:t>
                      </a:r>
                    </a:p>
                  </a:txBody>
                  <a:tcPr>
                    <a:solidFill>
                      <a:srgbClr val="FFFFFF"/>
                    </a:solidFill>
                  </a:tcPr>
                </a:tc>
                <a:tc>
                  <a:txBody>
                    <a:bodyPr/>
                    <a:lstStyle/>
                    <a:p>
                      <a:pPr algn="l">
                        <a:defRPr sz="1000" b="0">
                          <a:solidFill>
                            <a:srgbClr val="1E293B"/>
                          </a:solidFill>
                          <a:latin typeface="Calibri"/>
                        </a:defRPr>
                      </a:pPr>
                      <a:r>
                        <a:t>LoRa Mesh Alerts</a:t>
                      </a:r>
                    </a:p>
                  </a:txBody>
                  <a:tcPr>
                    <a:solidFill>
                      <a:srgbClr val="FFFFFF"/>
                    </a:solidFill>
                  </a:tcPr>
                </a:tc>
                <a:tc>
                  <a:txBody>
                    <a:bodyPr/>
                    <a:lstStyle/>
                    <a:p>
                      <a:pPr algn="l">
                        <a:defRPr sz="1000" b="0">
                          <a:solidFill>
                            <a:srgbClr val="1E293B"/>
                          </a:solidFill>
                          <a:latin typeface="Calibri"/>
                        </a:defRPr>
                      </a:pPr>
                      <a:r>
                        <a:t>Resilient communications mesh for disaster zones.</a:t>
                      </a:r>
                    </a:p>
                  </a:txBody>
                  <a:tcPr>
                    <a:solidFill>
                      <a:srgbClr val="FFFFFF"/>
                    </a:solidFill>
                  </a:tcPr>
                </a:tc>
                <a:tc>
                  <a:txBody>
                    <a:bodyPr/>
                    <a:lstStyle/>
                    <a:p>
                      <a:pPr algn="l">
                        <a:defRPr sz="1000" b="0">
                          <a:solidFill>
                            <a:srgbClr val="1E293B"/>
                          </a:solidFill>
                          <a:latin typeface="Calibri"/>
                        </a:defRPr>
                      </a:pPr>
                      <a:r>
                        <a:t>Simple rule engines fail to adapt to ambient drifts.</a:t>
                      </a:r>
                    </a:p>
                  </a:txBody>
                  <a:tcP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731520" y="5486400"/>
            <a:ext cx="10728655" cy="731520"/>
          </a:xfrm>
          <a:prstGeom prst="rect">
            <a:avLst/>
          </a:prstGeom>
          <a:noFill/>
        </p:spPr>
        <p:txBody>
          <a:bodyPr wrap="square" lIns="0" tIns="0" rIns="0" bIns="0">
            <a:spAutoFit/>
          </a:bodyPr>
          <a:lstStyle/>
          <a:p>
            <a:r>
              <a:rPr sz="1200" b="1">
                <a:solidFill>
                  <a:srgbClr val="0F2D59"/>
                </a:solidFill>
              </a:rPr>
              <a:t>Research Gap: </a:t>
            </a:r>
            <a:r>
              <a:rPr sz="1200">
                <a:solidFill>
                  <a:srgbClr val="1E293B"/>
                </a:solidFill>
              </a:rPr>
              <a:t>Existing solutions lack a unified, energy-efficient multi-hazard machine learning model capable of running on edge hubs to provide localized warnings without constant cloud connectivity.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000" b="1">
                <a:solidFill>
                  <a:srgbClr val="0F2D59"/>
                </a:solidFill>
                <a:latin typeface="Calibri"/>
              </a:defRPr>
            </a:pPr>
            <a:r>
              <a:t>Existing Method / System</a:t>
            </a:r>
          </a:p>
        </p:txBody>
      </p:sp>
      <p:sp>
        <p:nvSpPr>
          <p:cNvPr id="4" name="TextBox 3"/>
          <p:cNvSpPr txBox="1"/>
          <p:nvPr/>
        </p:nvSpPr>
        <p:spPr>
          <a:xfrm>
            <a:off x="731520" y="1645920"/>
            <a:ext cx="10728655" cy="4572000"/>
          </a:xfrm>
          <a:prstGeom prst="rect">
            <a:avLst/>
          </a:prstGeom>
          <a:noFill/>
        </p:spPr>
        <p:txBody>
          <a:bodyPr wrap="square" lIns="0" tIns="0" rIns="0" bIns="0">
            <a:spAutoFit/>
          </a:bodyPr>
          <a:lstStyle/>
          <a:p>
            <a:pPr>
              <a:spcAft>
                <a:spcPts val="1000"/>
              </a:spcAft>
              <a:defRPr sz="1500">
                <a:solidFill>
                  <a:srgbClr val="1E293B"/>
                </a:solidFill>
                <a:latin typeface="Calibri"/>
              </a:defRPr>
            </a:pPr>
            <a:r>
              <a:rPr b="1">
                <a:solidFill>
                  <a:srgbClr val="0F2D59"/>
                </a:solidFill>
              </a:rPr>
              <a:t>• Meteorological Observation Stations:</a:t>
            </a:r>
            <a:r>
              <a:rPr b="0">
                <a:solidFill>
                  <a:srgbClr val="1E293B"/>
                </a:solidFill>
              </a:rPr>
              <a:t> Use high-end setups but feature sparse distribution, which misses localized micro-climate events.</a:t>
            </a:r>
          </a:p>
          <a:p>
            <a:pPr>
              <a:spcAft>
                <a:spcPts val="1000"/>
              </a:spcAft>
              <a:defRPr sz="1500">
                <a:solidFill>
                  <a:srgbClr val="1E293B"/>
                </a:solidFill>
                <a:latin typeface="Calibri"/>
              </a:defRPr>
            </a:pPr>
            <a:r>
              <a:rPr b="1">
                <a:solidFill>
                  <a:srgbClr val="0F2D59"/>
                </a:solidFill>
              </a:rPr>
              <a:t>• Satellite Remote Sensing:</a:t>
            </a:r>
            <a:r>
              <a:rPr b="0">
                <a:solidFill>
                  <a:srgbClr val="1E293B"/>
                </a:solidFill>
              </a:rPr>
              <a:t> Provides high quality regional scans but suffers from processing latency, preventing immediate real-time local evacuation alerts.</a:t>
            </a:r>
          </a:p>
          <a:p>
            <a:pPr>
              <a:spcAft>
                <a:spcPts val="1000"/>
              </a:spcAft>
              <a:defRPr sz="1500">
                <a:solidFill>
                  <a:srgbClr val="1E293B"/>
                </a:solidFill>
                <a:latin typeface="Calibri"/>
              </a:defRPr>
            </a:pPr>
            <a:r>
              <a:rPr b="1">
                <a:solidFill>
                  <a:srgbClr val="0F2D59"/>
                </a:solidFill>
              </a:rPr>
              <a:t>• Hardcoded Rule Engines:</a:t>
            </a:r>
            <a:r>
              <a:rPr b="0">
                <a:solidFill>
                  <a:srgbClr val="1E293B"/>
                </a:solidFill>
              </a:rPr>
              <a:t> Triggers warnings on simple thresholds (e.g., Temperature &gt; 45°C) which leads to high false alerts during standard hot weather.</a:t>
            </a:r>
          </a:p>
          <a:p>
            <a:pPr>
              <a:spcAft>
                <a:spcPts val="1000"/>
              </a:spcAft>
              <a:defRPr sz="1500">
                <a:solidFill>
                  <a:srgbClr val="1E293B"/>
                </a:solidFill>
                <a:latin typeface="Calibri"/>
              </a:defRPr>
            </a:pPr>
            <a:r>
              <a:rPr b="1">
                <a:solidFill>
                  <a:srgbClr val="0F2D59"/>
                </a:solidFill>
              </a:rPr>
              <a:t>• Cloud IoT Architecture:</a:t>
            </a:r>
            <a:r>
              <a:rPr b="0">
                <a:solidFill>
                  <a:srgbClr val="1E293B"/>
                </a:solidFill>
              </a:rPr>
              <a:t> Forwards all raw telemetry to a remote server. When disasters knock out local base towers, the warning line breaks completely.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000" b="1">
                <a:solidFill>
                  <a:srgbClr val="0F2D59"/>
                </a:solidFill>
                <a:latin typeface="Calibri"/>
              </a:defRPr>
            </a:pPr>
            <a:r>
              <a:t>Problem Statement</a:t>
            </a:r>
          </a:p>
        </p:txBody>
      </p:sp>
      <p:sp>
        <p:nvSpPr>
          <p:cNvPr id="4" name="Rectangle 3"/>
          <p:cNvSpPr/>
          <p:nvPr/>
        </p:nvSpPr>
        <p:spPr>
          <a:xfrm>
            <a:off x="731520" y="1554480"/>
            <a:ext cx="10728655" cy="1280160"/>
          </a:xfrm>
          <a:prstGeom prst="rect">
            <a:avLst/>
          </a:prstGeom>
          <a:solidFill>
            <a:srgbClr val="EFF6FF"/>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r>
              <a:rPr sz="1500" b="1">
                <a:solidFill>
                  <a:srgbClr val="0F2D59"/>
                </a:solidFill>
              </a:rPr>
              <a:t>SIH Problem Statement 26178: </a:t>
            </a:r>
            <a:r>
              <a:rPr sz="1400">
                <a:solidFill>
                  <a:srgbClr val="1E293B"/>
                </a:solidFill>
              </a:rPr>
              <a:t>To design and build a resilient, AI-powered environmental monitoring network that provides early detection, localized intelligence, and actionable alerts for environmental hazards (floods, forest fires, and pollution events) common in India.</a:t>
            </a:r>
          </a:p>
        </p:txBody>
      </p:sp>
      <p:sp>
        <p:nvSpPr>
          <p:cNvPr id="5" name="TextBox 4"/>
          <p:cNvSpPr txBox="1"/>
          <p:nvPr/>
        </p:nvSpPr>
        <p:spPr>
          <a:xfrm>
            <a:off x="731520" y="3200400"/>
            <a:ext cx="10728655" cy="3200400"/>
          </a:xfrm>
          <a:prstGeom prst="rect">
            <a:avLst/>
          </a:prstGeom>
          <a:noFill/>
        </p:spPr>
        <p:txBody>
          <a:bodyPr wrap="square" lIns="0" tIns="0" rIns="0" bIns="0">
            <a:spAutoFit/>
          </a:bodyPr>
          <a:lstStyle/>
          <a:p>
            <a:pPr>
              <a:spcAft>
                <a:spcPts val="1000"/>
              </a:spcAft>
              <a:defRPr sz="1500">
                <a:solidFill>
                  <a:srgbClr val="1E293B"/>
                </a:solidFill>
                <a:latin typeface="Calibri"/>
              </a:defRPr>
            </a:pPr>
            <a:r>
              <a:rPr b="1">
                <a:solidFill>
                  <a:srgbClr val="0F2D59"/>
                </a:solidFill>
              </a:rPr>
              <a:t>• Sensor Calibration &amp; Noise:</a:t>
            </a:r>
            <a:r>
              <a:rPr b="0">
                <a:solidFill>
                  <a:srgbClr val="1E293B"/>
                </a:solidFill>
              </a:rPr>
              <a:t> Cheap environmental sensors exhibit baseline drift and thermal noise, creating false flags.</a:t>
            </a:r>
          </a:p>
          <a:p>
            <a:pPr>
              <a:spcAft>
                <a:spcPts val="1000"/>
              </a:spcAft>
              <a:defRPr sz="1500">
                <a:solidFill>
                  <a:srgbClr val="1E293B"/>
                </a:solidFill>
                <a:latin typeface="Calibri"/>
              </a:defRPr>
            </a:pPr>
            <a:r>
              <a:rPr b="1">
                <a:solidFill>
                  <a:srgbClr val="0F2D59"/>
                </a:solidFill>
              </a:rPr>
              <a:t>• Energy Limits at Node:</a:t>
            </a:r>
            <a:r>
              <a:rPr b="0">
                <a:solidFill>
                  <a:srgbClr val="1E293B"/>
                </a:solidFill>
              </a:rPr>
              <a:t> Operating remote hazard nodes on battery/solar power requires low computational cycles and smart sleep regimes.</a:t>
            </a:r>
          </a:p>
          <a:p>
            <a:pPr>
              <a:spcAft>
                <a:spcPts val="1000"/>
              </a:spcAft>
              <a:defRPr sz="1500">
                <a:solidFill>
                  <a:srgbClr val="1E293B"/>
                </a:solidFill>
                <a:latin typeface="Calibri"/>
              </a:defRPr>
            </a:pPr>
            <a:r>
              <a:rPr b="1">
                <a:solidFill>
                  <a:srgbClr val="0F2D59"/>
                </a:solidFill>
              </a:rPr>
              <a:t>• Network Outages:</a:t>
            </a:r>
            <a:r>
              <a:rPr b="0">
                <a:solidFill>
                  <a:srgbClr val="1E293B"/>
                </a:solidFill>
              </a:rPr>
              <a:t> Warnings must route locally to authorities even if storm damage breaks GSM or Wi-Fi towers.</a:t>
            </a:r>
          </a:p>
          <a:p>
            <a:pPr>
              <a:spcAft>
                <a:spcPts val="1000"/>
              </a:spcAft>
              <a:defRPr sz="1500">
                <a:solidFill>
                  <a:srgbClr val="1E293B"/>
                </a:solidFill>
                <a:latin typeface="Calibri"/>
              </a:defRPr>
            </a:pPr>
            <a:r>
              <a:rPr b="1">
                <a:solidFill>
                  <a:srgbClr val="0F2D59"/>
                </a:solidFill>
              </a:rPr>
              <a:t>• Multi-Hazard Correlation:</a:t>
            </a:r>
            <a:r>
              <a:rPr b="0">
                <a:solidFill>
                  <a:srgbClr val="1E293B"/>
                </a:solidFill>
              </a:rPr>
              <a:t> Correlating environmental signals (humidity, gas, water depth) to detect distinct disaster profiles.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000" b="1">
                <a:solidFill>
                  <a:srgbClr val="0F2D59"/>
                </a:solidFill>
                <a:latin typeface="Calibri"/>
              </a:defRPr>
            </a:pPr>
            <a:r>
              <a:t>Motivation</a:t>
            </a:r>
          </a:p>
        </p:txBody>
      </p:sp>
      <p:sp>
        <p:nvSpPr>
          <p:cNvPr id="4" name="TextBox 3"/>
          <p:cNvSpPr txBox="1"/>
          <p:nvPr/>
        </p:nvSpPr>
        <p:spPr>
          <a:xfrm>
            <a:off x="731520" y="1645920"/>
            <a:ext cx="10728655" cy="4572000"/>
          </a:xfrm>
          <a:prstGeom prst="rect">
            <a:avLst/>
          </a:prstGeom>
          <a:noFill/>
        </p:spPr>
        <p:txBody>
          <a:bodyPr wrap="square" lIns="0" tIns="0" rIns="0" bIns="0">
            <a:spAutoFit/>
          </a:bodyPr>
          <a:lstStyle/>
          <a:p>
            <a:pPr>
              <a:spcAft>
                <a:spcPts val="1000"/>
              </a:spcAft>
              <a:defRPr sz="1500">
                <a:solidFill>
                  <a:srgbClr val="1E293B"/>
                </a:solidFill>
                <a:latin typeface="Calibri"/>
              </a:defRPr>
            </a:pPr>
            <a:r>
              <a:rPr b="1">
                <a:solidFill>
                  <a:srgbClr val="0F2D59"/>
                </a:solidFill>
              </a:rPr>
              <a:t>• High Risk Exposure:</a:t>
            </a:r>
            <a:r>
              <a:rPr b="0">
                <a:solidFill>
                  <a:srgbClr val="1E293B"/>
                </a:solidFill>
              </a:rPr>
              <a:t> Over 70% of the Indian population is vulnerable to sudden weather hazards, resulting in significant human and crop losses annually.</a:t>
            </a:r>
          </a:p>
          <a:p>
            <a:pPr>
              <a:spcAft>
                <a:spcPts val="1000"/>
              </a:spcAft>
              <a:defRPr sz="1500">
                <a:solidFill>
                  <a:srgbClr val="1E293B"/>
                </a:solidFill>
                <a:latin typeface="Calibri"/>
              </a:defRPr>
            </a:pPr>
            <a:r>
              <a:rPr b="1">
                <a:solidFill>
                  <a:srgbClr val="0F2D59"/>
                </a:solidFill>
              </a:rPr>
              <a:t>• Vulnerability of Standard Backhaul:</a:t>
            </a:r>
            <a:r>
              <a:rPr b="0">
                <a:solidFill>
                  <a:srgbClr val="1E293B"/>
                </a:solidFill>
              </a:rPr>
              <a:t> Cellular connectivity is often the first service to fail during floods and storms, blocking remote cloud alerts.</a:t>
            </a:r>
          </a:p>
          <a:p>
            <a:pPr>
              <a:spcAft>
                <a:spcPts val="1000"/>
              </a:spcAft>
              <a:defRPr sz="1500">
                <a:solidFill>
                  <a:srgbClr val="1E293B"/>
                </a:solidFill>
                <a:latin typeface="Calibri"/>
              </a:defRPr>
            </a:pPr>
            <a:r>
              <a:rPr b="1">
                <a:solidFill>
                  <a:srgbClr val="0F2D59"/>
                </a:solidFill>
              </a:rPr>
              <a:t>• Value of Local Timing:</a:t>
            </a:r>
            <a:r>
              <a:rPr b="0">
                <a:solidFill>
                  <a:srgbClr val="1E293B"/>
                </a:solidFill>
              </a:rPr>
              <a:t> Providing localized warnings 10-15 minutes prior to a flash flood or forest fire boundary shift saves countless lives.</a:t>
            </a:r>
          </a:p>
          <a:p>
            <a:pPr>
              <a:spcAft>
                <a:spcPts val="1000"/>
              </a:spcAft>
              <a:defRPr sz="1500">
                <a:solidFill>
                  <a:srgbClr val="1E293B"/>
                </a:solidFill>
                <a:latin typeface="Calibri"/>
              </a:defRPr>
            </a:pPr>
            <a:r>
              <a:rPr b="1">
                <a:solidFill>
                  <a:srgbClr val="0F2D59"/>
                </a:solidFill>
              </a:rPr>
              <a:t>• Feasibility of Edge Computing:</a:t>
            </a:r>
            <a:r>
              <a:rPr b="0">
                <a:solidFill>
                  <a:srgbClr val="1E293B"/>
                </a:solidFill>
              </a:rPr>
              <a:t> Low-power microcontrollers (ESP32) and optimized algorithms allow on-device intelligence without cloud dependency.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000" b="1">
                <a:solidFill>
                  <a:srgbClr val="0F2D59"/>
                </a:solidFill>
                <a:latin typeface="Calibri"/>
              </a:defRPr>
            </a:pPr>
            <a:r>
              <a:t>Aim and Objectives</a:t>
            </a:r>
          </a:p>
        </p:txBody>
      </p:sp>
      <p:sp>
        <p:nvSpPr>
          <p:cNvPr id="4" name="TextBox 3"/>
          <p:cNvSpPr txBox="1"/>
          <p:nvPr/>
        </p:nvSpPr>
        <p:spPr>
          <a:xfrm>
            <a:off x="731520" y="1371600"/>
            <a:ext cx="10728655" cy="914400"/>
          </a:xfrm>
          <a:prstGeom prst="rect">
            <a:avLst/>
          </a:prstGeom>
          <a:noFill/>
        </p:spPr>
        <p:txBody>
          <a:bodyPr wrap="square" lIns="0" tIns="0" rIns="0" bIns="0">
            <a:spAutoFit/>
          </a:bodyPr>
          <a:lstStyle/>
          <a:p>
            <a:r>
              <a:rPr sz="1600" b="1">
                <a:solidFill>
                  <a:srgbClr val="0F2D59"/>
                </a:solidFill>
              </a:rPr>
              <a:t>Aim: </a:t>
            </a:r>
            <a:r>
              <a:rPr sz="1500">
                <a:solidFill>
                  <a:srgbClr val="1E293B"/>
                </a:solidFill>
              </a:rPr>
              <a:t>To develop a resilient, low-cost environmental monitoring network that detects and predicts localized hazards (floods, forest fires, air pollution) using edge-based Machine Learning.</a:t>
            </a:r>
          </a:p>
        </p:txBody>
      </p:sp>
      <p:sp>
        <p:nvSpPr>
          <p:cNvPr id="5" name="TextBox 4"/>
          <p:cNvSpPr txBox="1"/>
          <p:nvPr/>
        </p:nvSpPr>
        <p:spPr>
          <a:xfrm>
            <a:off x="731520" y="2377440"/>
            <a:ext cx="10728655" cy="4114800"/>
          </a:xfrm>
          <a:prstGeom prst="rect">
            <a:avLst/>
          </a:prstGeom>
          <a:noFill/>
        </p:spPr>
        <p:txBody>
          <a:bodyPr wrap="square" lIns="0" tIns="0" rIns="0" bIns="0">
            <a:spAutoFit/>
          </a:bodyPr>
          <a:lstStyle/>
          <a:p>
            <a:pPr>
              <a:spcAft>
                <a:spcPts val="1000"/>
              </a:spcAft>
              <a:defRPr sz="1500">
                <a:solidFill>
                  <a:srgbClr val="1E293B"/>
                </a:solidFill>
                <a:latin typeface="Calibri"/>
              </a:defRPr>
            </a:pPr>
            <a:r>
              <a:rPr b="1">
                <a:solidFill>
                  <a:srgbClr val="0F2D59"/>
                </a:solidFill>
              </a:rPr>
              <a:t>• Data Collection:</a:t>
            </a:r>
            <a:r>
              <a:rPr b="0">
                <a:solidFill>
                  <a:srgbClr val="1E293B"/>
                </a:solidFill>
              </a:rPr>
              <a:t> Establish telemetry streams (temperature, humidity, air quality, water level) using hardware sensors.</a:t>
            </a:r>
          </a:p>
          <a:p>
            <a:pPr>
              <a:spcAft>
                <a:spcPts val="1000"/>
              </a:spcAft>
              <a:defRPr sz="1500">
                <a:solidFill>
                  <a:srgbClr val="1E293B"/>
                </a:solidFill>
                <a:latin typeface="Calibri"/>
              </a:defRPr>
            </a:pPr>
            <a:r>
              <a:rPr b="1">
                <a:solidFill>
                  <a:srgbClr val="0F2D59"/>
                </a:solidFill>
              </a:rPr>
              <a:t>• Data Preprocessing:</a:t>
            </a:r>
            <a:r>
              <a:rPr b="0">
                <a:solidFill>
                  <a:srgbClr val="1E293B"/>
                </a:solidFill>
              </a:rPr>
              <a:t> Filter noise and sensor drift locally using moving average and scaling algorithms.</a:t>
            </a:r>
          </a:p>
          <a:p>
            <a:pPr>
              <a:spcAft>
                <a:spcPts val="1000"/>
              </a:spcAft>
              <a:defRPr sz="1500">
                <a:solidFill>
                  <a:srgbClr val="1E293B"/>
                </a:solidFill>
                <a:latin typeface="Calibri"/>
              </a:defRPr>
            </a:pPr>
            <a:r>
              <a:rPr b="1">
                <a:solidFill>
                  <a:srgbClr val="0F2D59"/>
                </a:solidFill>
              </a:rPr>
              <a:t>• Model Training:</a:t>
            </a:r>
            <a:r>
              <a:rPr b="0">
                <a:solidFill>
                  <a:srgbClr val="1E293B"/>
                </a:solidFill>
              </a:rPr>
              <a:t> Train a supervised Random Forest model on historical multi-hazard environmental datasets.</a:t>
            </a:r>
          </a:p>
          <a:p>
            <a:pPr>
              <a:spcAft>
                <a:spcPts val="1000"/>
              </a:spcAft>
              <a:defRPr sz="1500">
                <a:solidFill>
                  <a:srgbClr val="1E293B"/>
                </a:solidFill>
                <a:latin typeface="Calibri"/>
              </a:defRPr>
            </a:pPr>
            <a:r>
              <a:rPr b="1">
                <a:solidFill>
                  <a:srgbClr val="0F2D59"/>
                </a:solidFill>
              </a:rPr>
              <a:t>• Mesh Communication:</a:t>
            </a:r>
            <a:r>
              <a:rPr b="0">
                <a:solidFill>
                  <a:srgbClr val="1E293B"/>
                </a:solidFill>
              </a:rPr>
              <a:t> Set up peer-to-peer LoRa communications to bypass traditional network reliance.</a:t>
            </a:r>
          </a:p>
          <a:p>
            <a:pPr>
              <a:spcAft>
                <a:spcPts val="1000"/>
              </a:spcAft>
              <a:defRPr sz="1500">
                <a:solidFill>
                  <a:srgbClr val="1E293B"/>
                </a:solidFill>
                <a:latin typeface="Calibri"/>
              </a:defRPr>
            </a:pPr>
            <a:r>
              <a:rPr b="1">
                <a:solidFill>
                  <a:srgbClr val="0F2D59"/>
                </a:solidFill>
              </a:rPr>
              <a:t>• Edge Inference:</a:t>
            </a:r>
            <a:r>
              <a:rPr b="0">
                <a:solidFill>
                  <a:srgbClr val="1E293B"/>
                </a:solidFill>
              </a:rPr>
              <a:t> Deploy the hazard prediction model onto a local edge gateway hub.</a:t>
            </a:r>
          </a:p>
          <a:p>
            <a:pPr>
              <a:spcAft>
                <a:spcPts val="1000"/>
              </a:spcAft>
              <a:defRPr sz="1500">
                <a:solidFill>
                  <a:srgbClr val="1E293B"/>
                </a:solidFill>
                <a:latin typeface="Calibri"/>
              </a:defRPr>
            </a:pPr>
            <a:r>
              <a:rPr b="1">
                <a:solidFill>
                  <a:srgbClr val="0F2D59"/>
                </a:solidFill>
              </a:rPr>
              <a:t>• Dashboard Reporting:</a:t>
            </a:r>
            <a:r>
              <a:rPr b="0">
                <a:solidFill>
                  <a:srgbClr val="1E293B"/>
                </a:solidFill>
              </a:rPr>
              <a:t> Present real-time telemetry logs and emergency alerts on a web-based dashboard.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000" b="1">
                <a:solidFill>
                  <a:srgbClr val="0F2D59"/>
                </a:solidFill>
                <a:latin typeface="Calibri"/>
              </a:defRPr>
            </a:pPr>
            <a:r>
              <a:t>Proposed System Architecture</a:t>
            </a:r>
          </a:p>
        </p:txBody>
      </p:sp>
      <p:sp>
        <p:nvSpPr>
          <p:cNvPr id="4" name="Rounded Rectangle 3"/>
          <p:cNvSpPr/>
          <p:nvPr/>
        </p:nvSpPr>
        <p:spPr>
          <a:xfrm>
            <a:off x="731520" y="2011680"/>
            <a:ext cx="1463040" cy="914400"/>
          </a:xfrm>
          <a:prstGeom prst="roundRect">
            <a:avLst/>
          </a:prstGeom>
          <a:solidFill>
            <a:srgbClr val="EFF6FF"/>
          </a:solidFill>
          <a:ln w="1270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1. Physical Input</a:t>
            </a:r>
          </a:p>
        </p:txBody>
      </p:sp>
      <p:sp>
        <p:nvSpPr>
          <p:cNvPr id="5" name="Right Arrow 4"/>
          <p:cNvSpPr/>
          <p:nvPr/>
        </p:nvSpPr>
        <p:spPr>
          <a:xfrm>
            <a:off x="2240280" y="2331720"/>
            <a:ext cx="274320" cy="274320"/>
          </a:xfrm>
          <a:prstGeom prst="rightArrow">
            <a:avLst/>
          </a:prstGeom>
          <a:solidFill>
            <a:srgbClr val="0F2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560320" y="2011680"/>
            <a:ext cx="1463040" cy="914400"/>
          </a:xfrm>
          <a:prstGeom prst="roundRect">
            <a:avLst/>
          </a:prstGeom>
          <a:solidFill>
            <a:srgbClr val="EFF6FF"/>
          </a:solidFill>
          <a:ln w="1270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2. Data Sampling</a:t>
            </a:r>
          </a:p>
        </p:txBody>
      </p:sp>
      <p:sp>
        <p:nvSpPr>
          <p:cNvPr id="7" name="Right Arrow 6"/>
          <p:cNvSpPr/>
          <p:nvPr/>
        </p:nvSpPr>
        <p:spPr>
          <a:xfrm>
            <a:off x="4069080" y="2331720"/>
            <a:ext cx="274320" cy="274320"/>
          </a:xfrm>
          <a:prstGeom prst="rightArrow">
            <a:avLst/>
          </a:prstGeom>
          <a:solidFill>
            <a:srgbClr val="0F2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89120" y="2011680"/>
            <a:ext cx="1463040" cy="914400"/>
          </a:xfrm>
          <a:prstGeom prst="roundRect">
            <a:avLst/>
          </a:prstGeom>
          <a:solidFill>
            <a:srgbClr val="EFF6FF"/>
          </a:solidFill>
          <a:ln w="1270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3. Preprocessing</a:t>
            </a:r>
          </a:p>
        </p:txBody>
      </p:sp>
      <p:sp>
        <p:nvSpPr>
          <p:cNvPr id="9" name="Right Arrow 8"/>
          <p:cNvSpPr/>
          <p:nvPr/>
        </p:nvSpPr>
        <p:spPr>
          <a:xfrm>
            <a:off x="5897880" y="2331720"/>
            <a:ext cx="274320" cy="274320"/>
          </a:xfrm>
          <a:prstGeom prst="rightArrow">
            <a:avLst/>
          </a:prstGeom>
          <a:solidFill>
            <a:srgbClr val="0F2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217920" y="2011680"/>
            <a:ext cx="1463040" cy="914400"/>
          </a:xfrm>
          <a:prstGeom prst="roundRect">
            <a:avLst/>
          </a:prstGeom>
          <a:solidFill>
            <a:srgbClr val="EFF6FF"/>
          </a:solidFill>
          <a:ln w="1270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4. Feature Selection</a:t>
            </a:r>
          </a:p>
        </p:txBody>
      </p:sp>
      <p:sp>
        <p:nvSpPr>
          <p:cNvPr id="11" name="Right Arrow 10"/>
          <p:cNvSpPr/>
          <p:nvPr/>
        </p:nvSpPr>
        <p:spPr>
          <a:xfrm>
            <a:off x="7726680" y="2331720"/>
            <a:ext cx="274320" cy="274320"/>
          </a:xfrm>
          <a:prstGeom prst="rightArrow">
            <a:avLst/>
          </a:prstGeom>
          <a:solidFill>
            <a:srgbClr val="0F2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046720" y="2011680"/>
            <a:ext cx="1463040" cy="914400"/>
          </a:xfrm>
          <a:prstGeom prst="roundRect">
            <a:avLst/>
          </a:prstGeom>
          <a:solidFill>
            <a:srgbClr val="EFF6FF"/>
          </a:solidFill>
          <a:ln w="1270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5. ML Classifier</a:t>
            </a:r>
          </a:p>
        </p:txBody>
      </p:sp>
      <p:sp>
        <p:nvSpPr>
          <p:cNvPr id="13" name="Right Arrow 12"/>
          <p:cNvSpPr/>
          <p:nvPr/>
        </p:nvSpPr>
        <p:spPr>
          <a:xfrm>
            <a:off x="9555480" y="2331720"/>
            <a:ext cx="274320" cy="274320"/>
          </a:xfrm>
          <a:prstGeom prst="rightArrow">
            <a:avLst/>
          </a:prstGeom>
          <a:solidFill>
            <a:srgbClr val="0F2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875520" y="2011680"/>
            <a:ext cx="1463040" cy="914400"/>
          </a:xfrm>
          <a:prstGeom prst="roundRect">
            <a:avLst/>
          </a:prstGeom>
          <a:solidFill>
            <a:srgbClr val="EFF6FF"/>
          </a:solidFill>
          <a:ln w="1270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6. Alerts / Display</a:t>
            </a:r>
          </a:p>
        </p:txBody>
      </p:sp>
      <p:sp>
        <p:nvSpPr>
          <p:cNvPr id="15" name="TextBox 14"/>
          <p:cNvSpPr txBox="1"/>
          <p:nvPr/>
        </p:nvSpPr>
        <p:spPr>
          <a:xfrm>
            <a:off x="731520" y="3474720"/>
            <a:ext cx="10728655" cy="2926080"/>
          </a:xfrm>
          <a:prstGeom prst="rect">
            <a:avLst/>
          </a:prstGeom>
          <a:noFill/>
        </p:spPr>
        <p:txBody>
          <a:bodyPr wrap="square" lIns="0" tIns="0" rIns="0" bIns="0">
            <a:spAutoFit/>
          </a:bodyPr>
          <a:lstStyle/>
          <a:p>
            <a:pPr>
              <a:spcAft>
                <a:spcPts val="1000"/>
              </a:spcAft>
              <a:defRPr sz="1500">
                <a:solidFill>
                  <a:srgbClr val="1E293B"/>
                </a:solidFill>
                <a:latin typeface="Calibri"/>
              </a:defRPr>
            </a:pPr>
            <a:r>
              <a:rPr b="1">
                <a:solidFill>
                  <a:srgbClr val="0F2D59"/>
                </a:solidFill>
              </a:rPr>
              <a:t>• Physical Input:</a:t>
            </a:r>
            <a:r>
              <a:rPr b="0">
                <a:solidFill>
                  <a:srgbClr val="1E293B"/>
                </a:solidFill>
              </a:rPr>
              <a:t> Sensors monitor ambient Temperature, Humidity, Smoke/Gas presence, and Water Depth.</a:t>
            </a:r>
          </a:p>
          <a:p>
            <a:pPr>
              <a:spcAft>
                <a:spcPts val="1000"/>
              </a:spcAft>
              <a:defRPr sz="1500">
                <a:solidFill>
                  <a:srgbClr val="1E293B"/>
                </a:solidFill>
                <a:latin typeface="Calibri"/>
              </a:defRPr>
            </a:pPr>
            <a:r>
              <a:rPr b="1">
                <a:solidFill>
                  <a:srgbClr val="0F2D59"/>
                </a:solidFill>
              </a:rPr>
              <a:t>• Data Sampling:</a:t>
            </a:r>
            <a:r>
              <a:rPr b="0">
                <a:solidFill>
                  <a:srgbClr val="1E293B"/>
                </a:solidFill>
              </a:rPr>
              <a:t> An ESP32 microcontroller processes the analog/digital readings from the sensor interface.</a:t>
            </a:r>
          </a:p>
          <a:p>
            <a:pPr>
              <a:spcAft>
                <a:spcPts val="1000"/>
              </a:spcAft>
              <a:defRPr sz="1500">
                <a:solidFill>
                  <a:srgbClr val="1E293B"/>
                </a:solidFill>
                <a:latin typeface="Calibri"/>
              </a:defRPr>
            </a:pPr>
            <a:r>
              <a:rPr b="1">
                <a:solidFill>
                  <a:srgbClr val="0F2D59"/>
                </a:solidFill>
              </a:rPr>
              <a:t>• Preprocessing:</a:t>
            </a:r>
            <a:r>
              <a:rPr b="0">
                <a:solidFill>
                  <a:srgbClr val="1E293B"/>
                </a:solidFill>
              </a:rPr>
              <a:t> Eliminates spurious spikes and baseline noise using a local sliding-window median filter.</a:t>
            </a:r>
          </a:p>
          <a:p>
            <a:pPr>
              <a:spcAft>
                <a:spcPts val="1000"/>
              </a:spcAft>
              <a:defRPr sz="1500">
                <a:solidFill>
                  <a:srgbClr val="1E293B"/>
                </a:solidFill>
                <a:latin typeface="Calibri"/>
              </a:defRPr>
            </a:pPr>
            <a:r>
              <a:rPr b="1">
                <a:solidFill>
                  <a:srgbClr val="0F2D59"/>
                </a:solidFill>
              </a:rPr>
              <a:t>• Feature Selection:</a:t>
            </a:r>
            <a:r>
              <a:rPr b="0">
                <a:solidFill>
                  <a:srgbClr val="1E293B"/>
                </a:solidFill>
              </a:rPr>
              <a:t> Computes dynamic indicators like rate of water level rise and localized heat index.</a:t>
            </a:r>
          </a:p>
          <a:p>
            <a:pPr>
              <a:spcAft>
                <a:spcPts val="1000"/>
              </a:spcAft>
              <a:defRPr sz="1500">
                <a:solidFill>
                  <a:srgbClr val="1E293B"/>
                </a:solidFill>
                <a:latin typeface="Calibri"/>
              </a:defRPr>
            </a:pPr>
            <a:r>
              <a:rPr b="1">
                <a:solidFill>
                  <a:srgbClr val="0F2D59"/>
                </a:solidFill>
              </a:rPr>
              <a:t>• ML Classifier:</a:t>
            </a:r>
            <a:r>
              <a:rPr b="0">
                <a:solidFill>
                  <a:srgbClr val="1E293B"/>
                </a:solidFill>
              </a:rPr>
              <a:t> A trained Random Forest model predicts risk status: Normal, Fire, Flood, or Pollution Alert.</a:t>
            </a:r>
          </a:p>
          <a:p>
            <a:pPr>
              <a:spcAft>
                <a:spcPts val="1000"/>
              </a:spcAft>
              <a:defRPr sz="1500">
                <a:solidFill>
                  <a:srgbClr val="1E293B"/>
                </a:solidFill>
                <a:latin typeface="Calibri"/>
              </a:defRPr>
            </a:pPr>
            <a:r>
              <a:rPr b="1">
                <a:solidFill>
                  <a:srgbClr val="0F2D59"/>
                </a:solidFill>
              </a:rPr>
              <a:t>• Alerts &amp; Visuals:</a:t>
            </a:r>
            <a:r>
              <a:rPr b="0">
                <a:solidFill>
                  <a:srgbClr val="1E293B"/>
                </a:solidFill>
              </a:rPr>
              <a:t> Launches local sirens, broadcasts alerts via LoRa mesh, and populates the dashboard.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000" b="1">
                <a:solidFill>
                  <a:srgbClr val="0F2D59"/>
                </a:solidFill>
                <a:latin typeface="Calibri"/>
              </a:defRPr>
            </a:pPr>
            <a:r>
              <a:t>Proposed Methodology</a:t>
            </a:r>
          </a:p>
        </p:txBody>
      </p:sp>
      <p:sp>
        <p:nvSpPr>
          <p:cNvPr id="4" name="Rounded Rectangle 3"/>
          <p:cNvSpPr/>
          <p:nvPr/>
        </p:nvSpPr>
        <p:spPr>
          <a:xfrm>
            <a:off x="731520" y="1645920"/>
            <a:ext cx="2560320" cy="640080"/>
          </a:xfrm>
          <a:prstGeom prst="roundRect">
            <a:avLst/>
          </a:prstGeom>
          <a:solidFill>
            <a:srgbClr val="FFFFFF"/>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Data Acquisition (ESP32)</a:t>
            </a:r>
          </a:p>
        </p:txBody>
      </p:sp>
      <p:sp>
        <p:nvSpPr>
          <p:cNvPr id="5" name="Down Arrow 4"/>
          <p:cNvSpPr/>
          <p:nvPr/>
        </p:nvSpPr>
        <p:spPr>
          <a:xfrm>
            <a:off x="1828800" y="2286000"/>
            <a:ext cx="365760" cy="274320"/>
          </a:xfrm>
          <a:prstGeom prst="downArrow">
            <a:avLst/>
          </a:prstGeom>
          <a:solidFill>
            <a:srgbClr val="0F2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2560320"/>
            <a:ext cx="2560320" cy="640080"/>
          </a:xfrm>
          <a:prstGeom prst="roundRect">
            <a:avLst/>
          </a:prstGeom>
          <a:solidFill>
            <a:srgbClr val="FFFFFF"/>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Preprocessing (Median Filter)</a:t>
            </a:r>
          </a:p>
        </p:txBody>
      </p:sp>
      <p:sp>
        <p:nvSpPr>
          <p:cNvPr id="7" name="Down Arrow 6"/>
          <p:cNvSpPr/>
          <p:nvPr/>
        </p:nvSpPr>
        <p:spPr>
          <a:xfrm>
            <a:off x="1828800" y="3200400"/>
            <a:ext cx="365760" cy="274320"/>
          </a:xfrm>
          <a:prstGeom prst="downArrow">
            <a:avLst/>
          </a:prstGeom>
          <a:solidFill>
            <a:srgbClr val="0F2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31520" y="3474720"/>
            <a:ext cx="2560320" cy="640080"/>
          </a:xfrm>
          <a:prstGeom prst="roundRect">
            <a:avLst/>
          </a:prstGeom>
          <a:solidFill>
            <a:srgbClr val="FFFFFF"/>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Feature Scaling &amp; Extraction</a:t>
            </a:r>
          </a:p>
        </p:txBody>
      </p:sp>
      <p:sp>
        <p:nvSpPr>
          <p:cNvPr id="9" name="Down Arrow 8"/>
          <p:cNvSpPr/>
          <p:nvPr/>
        </p:nvSpPr>
        <p:spPr>
          <a:xfrm>
            <a:off x="1828800" y="4114800"/>
            <a:ext cx="365760" cy="274320"/>
          </a:xfrm>
          <a:prstGeom prst="downArrow">
            <a:avLst/>
          </a:prstGeom>
          <a:solidFill>
            <a:srgbClr val="0F2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4389120"/>
            <a:ext cx="2560320" cy="640080"/>
          </a:xfrm>
          <a:prstGeom prst="roundRect">
            <a:avLst/>
          </a:prstGeom>
          <a:solidFill>
            <a:srgbClr val="FFFFFF"/>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Model Training (Random Forest)</a:t>
            </a:r>
          </a:p>
        </p:txBody>
      </p:sp>
      <p:sp>
        <p:nvSpPr>
          <p:cNvPr id="11" name="Down Arrow 10"/>
          <p:cNvSpPr/>
          <p:nvPr/>
        </p:nvSpPr>
        <p:spPr>
          <a:xfrm>
            <a:off x="1828800" y="5029200"/>
            <a:ext cx="365760" cy="274320"/>
          </a:xfrm>
          <a:prstGeom prst="downArrow">
            <a:avLst/>
          </a:prstGeom>
          <a:solidFill>
            <a:srgbClr val="0F2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31520" y="5303520"/>
            <a:ext cx="2560320" cy="640080"/>
          </a:xfrm>
          <a:prstGeom prst="roundRect">
            <a:avLst/>
          </a:prstGeom>
          <a:solidFill>
            <a:srgbClr val="FFFFFF"/>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System Integration &amp; Alerting</a:t>
            </a:r>
          </a:p>
        </p:txBody>
      </p:sp>
      <p:sp>
        <p:nvSpPr>
          <p:cNvPr id="13" name="TextBox 12"/>
          <p:cNvSpPr txBox="1"/>
          <p:nvPr/>
        </p:nvSpPr>
        <p:spPr>
          <a:xfrm>
            <a:off x="3840480" y="1645920"/>
            <a:ext cx="7589520" cy="4572000"/>
          </a:xfrm>
          <a:prstGeom prst="rect">
            <a:avLst/>
          </a:prstGeom>
          <a:noFill/>
        </p:spPr>
        <p:txBody>
          <a:bodyPr wrap="square" lIns="0" tIns="0" rIns="0" bIns="0">
            <a:spAutoFit/>
          </a:bodyPr>
          <a:lstStyle/>
          <a:p>
            <a:pPr>
              <a:spcAft>
                <a:spcPts val="1000"/>
              </a:spcAft>
              <a:defRPr sz="1400">
                <a:solidFill>
                  <a:srgbClr val="1E293B"/>
                </a:solidFill>
                <a:latin typeface="Calibri"/>
              </a:defRPr>
            </a:pPr>
            <a:r>
              <a:rPr b="1">
                <a:solidFill>
                  <a:srgbClr val="0F2D59"/>
                </a:solidFill>
              </a:rPr>
              <a:t>• 1. Data Acquisition:</a:t>
            </a:r>
            <a:r>
              <a:rPr b="0">
                <a:solidFill>
                  <a:srgbClr val="1E293B"/>
                </a:solidFill>
              </a:rPr>
              <a:t> DHT11 temperature/humidity sensors, MQ135 air quality gas sensors, and ultrasonic water level meters are sampled continuously.</a:t>
            </a:r>
          </a:p>
          <a:p>
            <a:pPr>
              <a:spcAft>
                <a:spcPts val="1000"/>
              </a:spcAft>
              <a:defRPr sz="1400">
                <a:solidFill>
                  <a:srgbClr val="1E293B"/>
                </a:solidFill>
                <a:latin typeface="Calibri"/>
              </a:defRPr>
            </a:pPr>
            <a:r>
              <a:rPr b="1">
                <a:solidFill>
                  <a:srgbClr val="0F2D59"/>
                </a:solidFill>
              </a:rPr>
              <a:t>• 2. Data Preprocessing:</a:t>
            </a:r>
            <a:r>
              <a:rPr b="0">
                <a:solidFill>
                  <a:srgbClr val="1E293B"/>
                </a:solidFill>
              </a:rPr>
              <a:t> Baseline correction removes thermal drift, and normalisation maps variables into scale ranges.</a:t>
            </a:r>
          </a:p>
          <a:p>
            <a:pPr>
              <a:spcAft>
                <a:spcPts val="1000"/>
              </a:spcAft>
              <a:defRPr sz="1400">
                <a:solidFill>
                  <a:srgbClr val="1E293B"/>
                </a:solidFill>
                <a:latin typeface="Calibri"/>
              </a:defRPr>
            </a:pPr>
            <a:r>
              <a:rPr b="1">
                <a:solidFill>
                  <a:srgbClr val="0F2D59"/>
                </a:solidFill>
              </a:rPr>
              <a:t>• 3. Feature Scaling:</a:t>
            </a:r>
            <a:r>
              <a:rPr b="0">
                <a:solidFill>
                  <a:srgbClr val="1E293B"/>
                </a:solidFill>
              </a:rPr>
              <a:t> Rates of change (delta parameters over 5 minutes) are computed to detect sudden transitions.</a:t>
            </a:r>
          </a:p>
          <a:p>
            <a:pPr>
              <a:spcAft>
                <a:spcPts val="1000"/>
              </a:spcAft>
              <a:defRPr sz="1400">
                <a:solidFill>
                  <a:srgbClr val="1E293B"/>
                </a:solidFill>
                <a:latin typeface="Calibri"/>
              </a:defRPr>
            </a:pPr>
            <a:r>
              <a:rPr b="1">
                <a:solidFill>
                  <a:srgbClr val="0F2D59"/>
                </a:solidFill>
              </a:rPr>
              <a:t>• 4. Model Training:</a:t>
            </a:r>
            <a:r>
              <a:rPr b="0">
                <a:solidFill>
                  <a:srgbClr val="1E293B"/>
                </a:solidFill>
              </a:rPr>
              <a:t> Standard Python ML toolchains evaluate Random Forest classifiers using training/test splits.</a:t>
            </a:r>
          </a:p>
          <a:p>
            <a:pPr>
              <a:spcAft>
                <a:spcPts val="1000"/>
              </a:spcAft>
              <a:defRPr sz="1400">
                <a:solidFill>
                  <a:srgbClr val="1E293B"/>
                </a:solidFill>
                <a:latin typeface="Calibri"/>
              </a:defRPr>
            </a:pPr>
            <a:r>
              <a:rPr b="1">
                <a:solidFill>
                  <a:srgbClr val="0F2D59"/>
                </a:solidFill>
              </a:rPr>
              <a:t>• 5. System Integration:</a:t>
            </a:r>
            <a:r>
              <a:rPr b="0">
                <a:solidFill>
                  <a:srgbClr val="1E293B"/>
                </a:solidFill>
              </a:rPr>
              <a:t> Integrates edge predictions, hardware buzzer actuators, LoRa peer transceivers, and local web displays.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000" b="1">
                <a:solidFill>
                  <a:srgbClr val="0F2D59"/>
                </a:solidFill>
                <a:latin typeface="Calibri"/>
              </a:defRPr>
            </a:pPr>
            <a:r>
              <a:t>Proposed Block Diagram</a:t>
            </a:r>
          </a:p>
        </p:txBody>
      </p:sp>
      <p:sp>
        <p:nvSpPr>
          <p:cNvPr id="4" name="Rounded Rectangle 3"/>
          <p:cNvSpPr/>
          <p:nvPr/>
        </p:nvSpPr>
        <p:spPr>
          <a:xfrm>
            <a:off x="731520" y="1645920"/>
            <a:ext cx="2103120" cy="1097280"/>
          </a:xfrm>
          <a:prstGeom prst="roundRect">
            <a:avLst/>
          </a:prstGeom>
          <a:solidFill>
            <a:srgbClr val="EFF6FF"/>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Physical Sensors</a:t>
            </a:r>
            <a:br/>
            <a:r>
              <a:t>(DHT11, MQ135, Ultrasonic)</a:t>
            </a:r>
          </a:p>
        </p:txBody>
      </p:sp>
      <p:sp>
        <p:nvSpPr>
          <p:cNvPr id="5" name="Right Arrow 4"/>
          <p:cNvSpPr/>
          <p:nvPr/>
        </p:nvSpPr>
        <p:spPr>
          <a:xfrm>
            <a:off x="2880360" y="2011680"/>
            <a:ext cx="548640" cy="365760"/>
          </a:xfrm>
          <a:prstGeom prst="rightArrow">
            <a:avLst/>
          </a:prstGeom>
          <a:solidFill>
            <a:srgbClr val="0F2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474720" y="1645920"/>
            <a:ext cx="2103120" cy="1097280"/>
          </a:xfrm>
          <a:prstGeom prst="roundRect">
            <a:avLst/>
          </a:prstGeom>
          <a:solidFill>
            <a:srgbClr val="FFFFFF"/>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ESP32 Sensor Node</a:t>
            </a:r>
            <a:br/>
            <a:r>
              <a:t>(Data Sampling &amp; Packaging)</a:t>
            </a:r>
          </a:p>
        </p:txBody>
      </p:sp>
      <p:sp>
        <p:nvSpPr>
          <p:cNvPr id="7" name="Right Arrow 6"/>
          <p:cNvSpPr/>
          <p:nvPr/>
        </p:nvSpPr>
        <p:spPr>
          <a:xfrm>
            <a:off x="5623560" y="2011680"/>
            <a:ext cx="548640" cy="365760"/>
          </a:xfrm>
          <a:prstGeom prst="rightArrow">
            <a:avLst/>
          </a:prstGeom>
          <a:solidFill>
            <a:srgbClr val="0F2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217920" y="1645920"/>
            <a:ext cx="2103120" cy="1097280"/>
          </a:xfrm>
          <a:prstGeom prst="roundRect">
            <a:avLst/>
          </a:prstGeom>
          <a:solidFill>
            <a:srgbClr val="FFFFFF"/>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Preprocessing Hub</a:t>
            </a:r>
            <a:br/>
            <a:r>
              <a:t>(Median Filter &amp; Scale)</a:t>
            </a:r>
          </a:p>
        </p:txBody>
      </p:sp>
      <p:sp>
        <p:nvSpPr>
          <p:cNvPr id="9" name="Right Arrow 8"/>
          <p:cNvSpPr/>
          <p:nvPr/>
        </p:nvSpPr>
        <p:spPr>
          <a:xfrm>
            <a:off x="8366760" y="2011680"/>
            <a:ext cx="548640" cy="365760"/>
          </a:xfrm>
          <a:prstGeom prst="rightArrow">
            <a:avLst/>
          </a:prstGeom>
          <a:solidFill>
            <a:srgbClr val="0F2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961120" y="1645920"/>
            <a:ext cx="2103120" cy="1097280"/>
          </a:xfrm>
          <a:prstGeom prst="roundRect">
            <a:avLst/>
          </a:prstGeom>
          <a:solidFill>
            <a:srgbClr val="FFFFFF"/>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Feature Engineering</a:t>
            </a:r>
            <a:br/>
            <a:r>
              <a:t>(Delta calculations)</a:t>
            </a:r>
          </a:p>
        </p:txBody>
      </p:sp>
      <p:sp>
        <p:nvSpPr>
          <p:cNvPr id="11" name="Down Arrow 10"/>
          <p:cNvSpPr/>
          <p:nvPr/>
        </p:nvSpPr>
        <p:spPr>
          <a:xfrm>
            <a:off x="9829800" y="2834640"/>
            <a:ext cx="365760" cy="1188720"/>
          </a:xfrm>
          <a:prstGeom prst="downArrow">
            <a:avLst/>
          </a:prstGeom>
          <a:solidFill>
            <a:srgbClr val="0F2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961120" y="4114800"/>
            <a:ext cx="2103120" cy="1097280"/>
          </a:xfrm>
          <a:prstGeom prst="roundRect">
            <a:avLst/>
          </a:prstGeom>
          <a:solidFill>
            <a:srgbClr val="EFF6FF"/>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Random Forest Classifier</a:t>
            </a:r>
            <a:br/>
            <a:r>
              <a:t>(Model Inference)</a:t>
            </a:r>
          </a:p>
        </p:txBody>
      </p:sp>
      <p:sp>
        <p:nvSpPr>
          <p:cNvPr id="13" name="Left Arrow 12"/>
          <p:cNvSpPr/>
          <p:nvPr/>
        </p:nvSpPr>
        <p:spPr>
          <a:xfrm>
            <a:off x="8366760" y="4480560"/>
            <a:ext cx="548640" cy="365760"/>
          </a:xfrm>
          <a:prstGeom prst="leftArrow">
            <a:avLst/>
          </a:prstGeom>
          <a:solidFill>
            <a:srgbClr val="0F2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217920" y="4114800"/>
            <a:ext cx="2103120" cy="1097280"/>
          </a:xfrm>
          <a:prstGeom prst="roundRect">
            <a:avLst/>
          </a:prstGeom>
          <a:solidFill>
            <a:srgbClr val="FFFFFF"/>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Decision Engine</a:t>
            </a:r>
            <a:br/>
            <a:r>
              <a:t>(Trigger Rule Matching)</a:t>
            </a:r>
          </a:p>
        </p:txBody>
      </p:sp>
      <p:sp>
        <p:nvSpPr>
          <p:cNvPr id="15" name="Left Arrow 14"/>
          <p:cNvSpPr/>
          <p:nvPr/>
        </p:nvSpPr>
        <p:spPr>
          <a:xfrm>
            <a:off x="5623560" y="4480560"/>
            <a:ext cx="548640" cy="365760"/>
          </a:xfrm>
          <a:prstGeom prst="leftArrow">
            <a:avLst/>
          </a:prstGeom>
          <a:solidFill>
            <a:srgbClr val="0F2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474720" y="4114800"/>
            <a:ext cx="2103120" cy="1097280"/>
          </a:xfrm>
          <a:prstGeom prst="roundRect">
            <a:avLst/>
          </a:prstGeom>
          <a:solidFill>
            <a:srgbClr val="FFFFFF"/>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LoRa RF Transceiver</a:t>
            </a:r>
            <a:br/>
            <a:r>
              <a:t>(Mesh Alert Broadcast)</a:t>
            </a:r>
          </a:p>
        </p:txBody>
      </p:sp>
      <p:sp>
        <p:nvSpPr>
          <p:cNvPr id="17" name="Left Arrow 16"/>
          <p:cNvSpPr/>
          <p:nvPr/>
        </p:nvSpPr>
        <p:spPr>
          <a:xfrm>
            <a:off x="2880360" y="4480560"/>
            <a:ext cx="548640" cy="365760"/>
          </a:xfrm>
          <a:prstGeom prst="leftArrow">
            <a:avLst/>
          </a:prstGeom>
          <a:solidFill>
            <a:srgbClr val="0F2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731520" y="4114800"/>
            <a:ext cx="2103120" cy="1097280"/>
          </a:xfrm>
          <a:prstGeom prst="roundRect">
            <a:avLst/>
          </a:prstGeom>
          <a:solidFill>
            <a:srgbClr val="EFF6FF"/>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Output Interfaces</a:t>
            </a:r>
            <a:br/>
            <a:r>
              <a:t>(Siren &amp; Web Dashboard)</a:t>
            </a:r>
          </a:p>
        </p:txBody>
      </p:sp>
      <p:sp>
        <p:nvSpPr>
          <p:cNvPr id="19" name="TextBox 18"/>
          <p:cNvSpPr txBox="1"/>
          <p:nvPr/>
        </p:nvSpPr>
        <p:spPr>
          <a:xfrm>
            <a:off x="731520" y="5577840"/>
            <a:ext cx="10728655" cy="731520"/>
          </a:xfrm>
          <a:prstGeom prst="rect">
            <a:avLst/>
          </a:prstGeom>
          <a:noFill/>
        </p:spPr>
        <p:txBody>
          <a:bodyPr wrap="square" lIns="0" tIns="0" rIns="0" bIns="0">
            <a:spAutoFit/>
          </a:bodyPr>
          <a:lstStyle/>
          <a:p>
            <a:pPr>
              <a:defRPr sz="1100" i="1">
                <a:solidFill>
                  <a:srgbClr val="64748B"/>
                </a:solidFill>
                <a:latin typeface="Calibri"/>
              </a:defRPr>
            </a:pPr>
            <a:r>
              <a:t>Description: Data flows from sensors, through ESP32 sampling, to the edge gateway for filtering and feature calculation. The Random Forest model classifies hazard states, triggering local sirens and LoRa broadcasts.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000" b="1">
                <a:solidFill>
                  <a:srgbClr val="0F2D59"/>
                </a:solidFill>
                <a:latin typeface="Calibri"/>
              </a:defRPr>
            </a:pPr>
            <a:r>
              <a:t>Hardware Specifications</a:t>
            </a:r>
          </a:p>
        </p:txBody>
      </p:sp>
      <p:graphicFrame>
        <p:nvGraphicFramePr>
          <p:cNvPr id="4" name="Table 3"/>
          <p:cNvGraphicFramePr>
            <a:graphicFrameLocks noGrp="1"/>
          </p:cNvGraphicFramePr>
          <p:nvPr/>
        </p:nvGraphicFramePr>
        <p:xfrm>
          <a:off x="731520" y="1645920"/>
          <a:ext cx="10728655" cy="41148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7985455">
                  <a:extLst>
                    <a:ext uri="{9D8B030D-6E8A-4147-A177-3AD203B41FA5}">
                      <a16:colId xmlns:a16="http://schemas.microsoft.com/office/drawing/2014/main" val="20001"/>
                    </a:ext>
                  </a:extLst>
                </a:gridCol>
              </a:tblGrid>
              <a:tr h="587828">
                <a:tc>
                  <a:txBody>
                    <a:bodyPr/>
                    <a:lstStyle/>
                    <a:p>
                      <a:pPr algn="l">
                        <a:defRPr sz="1000" b="1">
                          <a:solidFill>
                            <a:srgbClr val="FFFFFF"/>
                          </a:solidFill>
                          <a:latin typeface="Calibri"/>
                        </a:defRPr>
                      </a:pPr>
                      <a:r>
                        <a:t>Component</a:t>
                      </a:r>
                    </a:p>
                  </a:txBody>
                  <a:tcPr>
                    <a:solidFill>
                      <a:srgbClr val="0F2D59"/>
                    </a:solidFill>
                  </a:tcPr>
                </a:tc>
                <a:tc>
                  <a:txBody>
                    <a:bodyPr/>
                    <a:lstStyle/>
                    <a:p>
                      <a:pPr algn="l">
                        <a:defRPr sz="1000" b="1">
                          <a:solidFill>
                            <a:srgbClr val="FFFFFF"/>
                          </a:solidFill>
                          <a:latin typeface="Calibri"/>
                        </a:defRPr>
                      </a:pPr>
                      <a:r>
                        <a:t>Purpose / Role in the Project</a:t>
                      </a:r>
                    </a:p>
                  </a:txBody>
                  <a:tcPr>
                    <a:solidFill>
                      <a:srgbClr val="0F2D59"/>
                    </a:solidFill>
                  </a:tcPr>
                </a:tc>
                <a:extLst>
                  <a:ext uri="{0D108BD9-81ED-4DB2-BD59-A6C34878D82A}">
                    <a16:rowId xmlns:a16="http://schemas.microsoft.com/office/drawing/2014/main" val="10000"/>
                  </a:ext>
                </a:extLst>
              </a:tr>
              <a:tr h="587828">
                <a:tc>
                  <a:txBody>
                    <a:bodyPr/>
                    <a:lstStyle/>
                    <a:p>
                      <a:pPr algn="l">
                        <a:defRPr sz="1000" b="0">
                          <a:solidFill>
                            <a:srgbClr val="1E293B"/>
                          </a:solidFill>
                          <a:latin typeface="Calibri"/>
                        </a:defRPr>
                      </a:pPr>
                      <a:r>
                        <a:t>ESP32 DevKit V1</a:t>
                      </a:r>
                    </a:p>
                  </a:txBody>
                  <a:tcPr>
                    <a:solidFill>
                      <a:srgbClr val="FFFFFF"/>
                    </a:solidFill>
                  </a:tcPr>
                </a:tc>
                <a:tc>
                  <a:txBody>
                    <a:bodyPr/>
                    <a:lstStyle/>
                    <a:p>
                      <a:pPr algn="l">
                        <a:defRPr sz="1000" b="0">
                          <a:solidFill>
                            <a:srgbClr val="1E293B"/>
                          </a:solidFill>
                          <a:latin typeface="Calibri"/>
                        </a:defRPr>
                      </a:pPr>
                      <a:r>
                        <a:t>Core node controller. Manages sensor sampling, local math, and LoRa transmission.</a:t>
                      </a:r>
                    </a:p>
                  </a:txBody>
                  <a:tcPr>
                    <a:solidFill>
                      <a:srgbClr val="FFFFFF"/>
                    </a:solidFill>
                  </a:tcPr>
                </a:tc>
                <a:extLst>
                  <a:ext uri="{0D108BD9-81ED-4DB2-BD59-A6C34878D82A}">
                    <a16:rowId xmlns:a16="http://schemas.microsoft.com/office/drawing/2014/main" val="10001"/>
                  </a:ext>
                </a:extLst>
              </a:tr>
              <a:tr h="587828">
                <a:tc>
                  <a:txBody>
                    <a:bodyPr/>
                    <a:lstStyle/>
                    <a:p>
                      <a:pPr algn="l">
                        <a:defRPr sz="1000" b="0">
                          <a:solidFill>
                            <a:srgbClr val="1E293B"/>
                          </a:solidFill>
                          <a:latin typeface="Calibri"/>
                        </a:defRPr>
                      </a:pPr>
                      <a:r>
                        <a:t>DHT11 Sensor</a:t>
                      </a:r>
                    </a:p>
                  </a:txBody>
                  <a:tcPr>
                    <a:solidFill>
                      <a:srgbClr val="EFF6FF"/>
                    </a:solidFill>
                  </a:tcPr>
                </a:tc>
                <a:tc>
                  <a:txBody>
                    <a:bodyPr/>
                    <a:lstStyle/>
                    <a:p>
                      <a:pPr algn="l">
                        <a:defRPr sz="1000" b="0">
                          <a:solidFill>
                            <a:srgbClr val="1E293B"/>
                          </a:solidFill>
                          <a:latin typeface="Calibri"/>
                        </a:defRPr>
                      </a:pPr>
                      <a:r>
                        <a:t>Measures ambient temperature (0 to 50°C) and relative humidity (20 to 90%).</a:t>
                      </a:r>
                    </a:p>
                  </a:txBody>
                  <a:tcPr>
                    <a:solidFill>
                      <a:srgbClr val="EFF6FF"/>
                    </a:solidFill>
                  </a:tcPr>
                </a:tc>
                <a:extLst>
                  <a:ext uri="{0D108BD9-81ED-4DB2-BD59-A6C34878D82A}">
                    <a16:rowId xmlns:a16="http://schemas.microsoft.com/office/drawing/2014/main" val="10002"/>
                  </a:ext>
                </a:extLst>
              </a:tr>
              <a:tr h="587828">
                <a:tc>
                  <a:txBody>
                    <a:bodyPr/>
                    <a:lstStyle/>
                    <a:p>
                      <a:pPr algn="l">
                        <a:defRPr sz="1000" b="0">
                          <a:solidFill>
                            <a:srgbClr val="1E293B"/>
                          </a:solidFill>
                          <a:latin typeface="Calibri"/>
                        </a:defRPr>
                      </a:pPr>
                      <a:r>
                        <a:t>MQ135 Gas Sensor</a:t>
                      </a:r>
                    </a:p>
                  </a:txBody>
                  <a:tcPr>
                    <a:solidFill>
                      <a:srgbClr val="FFFFFF"/>
                    </a:solidFill>
                  </a:tcPr>
                </a:tc>
                <a:tc>
                  <a:txBody>
                    <a:bodyPr/>
                    <a:lstStyle/>
                    <a:p>
                      <a:pPr algn="l">
                        <a:defRPr sz="1000" b="0">
                          <a:solidFill>
                            <a:srgbClr val="1E293B"/>
                          </a:solidFill>
                          <a:latin typeface="Calibri"/>
                        </a:defRPr>
                      </a:pPr>
                      <a:r>
                        <a:t>Detects toxic carbon monoxide, smoke levels, and particulate matter concentration.</a:t>
                      </a:r>
                    </a:p>
                  </a:txBody>
                  <a:tcPr>
                    <a:solidFill>
                      <a:srgbClr val="FFFFFF"/>
                    </a:solidFill>
                  </a:tcPr>
                </a:tc>
                <a:extLst>
                  <a:ext uri="{0D108BD9-81ED-4DB2-BD59-A6C34878D82A}">
                    <a16:rowId xmlns:a16="http://schemas.microsoft.com/office/drawing/2014/main" val="10003"/>
                  </a:ext>
                </a:extLst>
              </a:tr>
              <a:tr h="587828">
                <a:tc>
                  <a:txBody>
                    <a:bodyPr/>
                    <a:lstStyle/>
                    <a:p>
                      <a:pPr algn="l">
                        <a:defRPr sz="1000" b="0">
                          <a:solidFill>
                            <a:srgbClr val="1E293B"/>
                          </a:solidFill>
                          <a:latin typeface="Calibri"/>
                        </a:defRPr>
                      </a:pPr>
                      <a:r>
                        <a:t>HC-SR04 Ultrasonic Sensor</a:t>
                      </a:r>
                    </a:p>
                  </a:txBody>
                  <a:tcPr>
                    <a:solidFill>
                      <a:srgbClr val="EFF6FF"/>
                    </a:solidFill>
                  </a:tcPr>
                </a:tc>
                <a:tc>
                  <a:txBody>
                    <a:bodyPr/>
                    <a:lstStyle/>
                    <a:p>
                      <a:pPr algn="l">
                        <a:defRPr sz="1000" b="0">
                          <a:solidFill>
                            <a:srgbClr val="1E293B"/>
                          </a:solidFill>
                          <a:latin typeface="Calibri"/>
                        </a:defRPr>
                      </a:pPr>
                      <a:r>
                        <a:t>Monitors river and water channel depth to detect flash floods.</a:t>
                      </a:r>
                    </a:p>
                  </a:txBody>
                  <a:tcPr>
                    <a:solidFill>
                      <a:srgbClr val="EFF6FF"/>
                    </a:solidFill>
                  </a:tcPr>
                </a:tc>
                <a:extLst>
                  <a:ext uri="{0D108BD9-81ED-4DB2-BD59-A6C34878D82A}">
                    <a16:rowId xmlns:a16="http://schemas.microsoft.com/office/drawing/2014/main" val="10004"/>
                  </a:ext>
                </a:extLst>
              </a:tr>
              <a:tr h="587828">
                <a:tc>
                  <a:txBody>
                    <a:bodyPr/>
                    <a:lstStyle/>
                    <a:p>
                      <a:pPr algn="l">
                        <a:defRPr sz="1000" b="0">
                          <a:solidFill>
                            <a:srgbClr val="1E293B"/>
                          </a:solidFill>
                          <a:latin typeface="Calibri"/>
                        </a:defRPr>
                      </a:pPr>
                      <a:r>
                        <a:t>LoRa RFM95W (433MHz)</a:t>
                      </a:r>
                    </a:p>
                  </a:txBody>
                  <a:tcPr>
                    <a:solidFill>
                      <a:srgbClr val="FFFFFF"/>
                    </a:solidFill>
                  </a:tcPr>
                </a:tc>
                <a:tc>
                  <a:txBody>
                    <a:bodyPr/>
                    <a:lstStyle/>
                    <a:p>
                      <a:pPr algn="l">
                        <a:defRPr sz="1000" b="0">
                          <a:solidFill>
                            <a:srgbClr val="1E293B"/>
                          </a:solidFill>
                          <a:latin typeface="Calibri"/>
                        </a:defRPr>
                      </a:pPr>
                      <a:r>
                        <a:t>Long-range RF transceiver communicating up to 5km without internet.</a:t>
                      </a:r>
                    </a:p>
                  </a:txBody>
                  <a:tcPr>
                    <a:solidFill>
                      <a:srgbClr val="FFFFFF"/>
                    </a:solidFill>
                  </a:tcPr>
                </a:tc>
                <a:extLst>
                  <a:ext uri="{0D108BD9-81ED-4DB2-BD59-A6C34878D82A}">
                    <a16:rowId xmlns:a16="http://schemas.microsoft.com/office/drawing/2014/main" val="10005"/>
                  </a:ext>
                </a:extLst>
              </a:tr>
              <a:tr h="587832">
                <a:tc>
                  <a:txBody>
                    <a:bodyPr/>
                    <a:lstStyle/>
                    <a:p>
                      <a:pPr algn="l">
                        <a:defRPr sz="1000" b="0">
                          <a:solidFill>
                            <a:srgbClr val="1E293B"/>
                          </a:solidFill>
                          <a:latin typeface="Calibri"/>
                        </a:defRPr>
                      </a:pPr>
                      <a:r>
                        <a:t>18650 Battery + Solar Panel</a:t>
                      </a:r>
                    </a:p>
                  </a:txBody>
                  <a:tcPr>
                    <a:solidFill>
                      <a:srgbClr val="EFF6FF"/>
                    </a:solidFill>
                  </a:tcPr>
                </a:tc>
                <a:tc>
                  <a:txBody>
                    <a:bodyPr/>
                    <a:lstStyle/>
                    <a:p>
                      <a:pPr algn="l">
                        <a:defRPr sz="1000" b="0">
                          <a:solidFill>
                            <a:srgbClr val="1E293B"/>
                          </a:solidFill>
                          <a:latin typeface="Calibri"/>
                        </a:defRPr>
                      </a:pPr>
                      <a:r>
                        <a:t>Provides autonomous, reliable off-grid power to remote monitoring nodes.</a:t>
                      </a:r>
                    </a:p>
                  </a:txBody>
                  <a:tcPr>
                    <a:solidFill>
                      <a:srgbClr val="EFF6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000" b="1">
                <a:solidFill>
                  <a:srgbClr val="0F2D59"/>
                </a:solidFill>
                <a:latin typeface="Calibri"/>
              </a:defRPr>
            </a:pPr>
            <a:r>
              <a:t>Software Specifications</a:t>
            </a:r>
          </a:p>
        </p:txBody>
      </p:sp>
      <p:graphicFrame>
        <p:nvGraphicFramePr>
          <p:cNvPr id="4" name="Table 3"/>
          <p:cNvGraphicFramePr>
            <a:graphicFrameLocks noGrp="1"/>
          </p:cNvGraphicFramePr>
          <p:nvPr/>
        </p:nvGraphicFramePr>
        <p:xfrm>
          <a:off x="731520" y="1645920"/>
          <a:ext cx="10728655" cy="41148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7985455">
                  <a:extLst>
                    <a:ext uri="{9D8B030D-6E8A-4147-A177-3AD203B41FA5}">
                      <a16:colId xmlns:a16="http://schemas.microsoft.com/office/drawing/2014/main" val="20001"/>
                    </a:ext>
                  </a:extLst>
                </a:gridCol>
              </a:tblGrid>
              <a:tr h="587828">
                <a:tc>
                  <a:txBody>
                    <a:bodyPr/>
                    <a:lstStyle/>
                    <a:p>
                      <a:pPr algn="l">
                        <a:defRPr sz="1000" b="1">
                          <a:solidFill>
                            <a:srgbClr val="FFFFFF"/>
                          </a:solidFill>
                          <a:latin typeface="Calibri"/>
                        </a:defRPr>
                      </a:pPr>
                      <a:r>
                        <a:t>Software Component</a:t>
                      </a:r>
                    </a:p>
                  </a:txBody>
                  <a:tcPr>
                    <a:solidFill>
                      <a:srgbClr val="0F2D59"/>
                    </a:solidFill>
                  </a:tcPr>
                </a:tc>
                <a:tc>
                  <a:txBody>
                    <a:bodyPr/>
                    <a:lstStyle/>
                    <a:p>
                      <a:pPr algn="l">
                        <a:defRPr sz="1000" b="1">
                          <a:solidFill>
                            <a:srgbClr val="FFFFFF"/>
                          </a:solidFill>
                          <a:latin typeface="Calibri"/>
                        </a:defRPr>
                      </a:pPr>
                      <a:r>
                        <a:t>Purpose / Role in the Project</a:t>
                      </a:r>
                    </a:p>
                  </a:txBody>
                  <a:tcPr>
                    <a:solidFill>
                      <a:srgbClr val="0F2D59"/>
                    </a:solidFill>
                  </a:tcPr>
                </a:tc>
                <a:extLst>
                  <a:ext uri="{0D108BD9-81ED-4DB2-BD59-A6C34878D82A}">
                    <a16:rowId xmlns:a16="http://schemas.microsoft.com/office/drawing/2014/main" val="10000"/>
                  </a:ext>
                </a:extLst>
              </a:tr>
              <a:tr h="587828">
                <a:tc>
                  <a:txBody>
                    <a:bodyPr/>
                    <a:lstStyle/>
                    <a:p>
                      <a:pPr algn="l">
                        <a:defRPr sz="1000" b="0">
                          <a:solidFill>
                            <a:srgbClr val="1E293B"/>
                          </a:solidFill>
                          <a:latin typeface="Calibri"/>
                        </a:defRPr>
                      </a:pPr>
                      <a:r>
                        <a:t>Python 3.10</a:t>
                      </a:r>
                    </a:p>
                  </a:txBody>
                  <a:tcPr>
                    <a:solidFill>
                      <a:srgbClr val="FFFFFF"/>
                    </a:solidFill>
                  </a:tcPr>
                </a:tc>
                <a:tc>
                  <a:txBody>
                    <a:bodyPr/>
                    <a:lstStyle/>
                    <a:p>
                      <a:pPr algn="l">
                        <a:defRPr sz="1000" b="0">
                          <a:solidFill>
                            <a:srgbClr val="1E293B"/>
                          </a:solidFill>
                          <a:latin typeface="Calibri"/>
                        </a:defRPr>
                      </a:pPr>
                      <a:r>
                        <a:t>Core programming language for data cleaning, preprocessing, and model training.</a:t>
                      </a:r>
                    </a:p>
                  </a:txBody>
                  <a:tcPr>
                    <a:solidFill>
                      <a:srgbClr val="FFFFFF"/>
                    </a:solidFill>
                  </a:tcPr>
                </a:tc>
                <a:extLst>
                  <a:ext uri="{0D108BD9-81ED-4DB2-BD59-A6C34878D82A}">
                    <a16:rowId xmlns:a16="http://schemas.microsoft.com/office/drawing/2014/main" val="10001"/>
                  </a:ext>
                </a:extLst>
              </a:tr>
              <a:tr h="587828">
                <a:tc>
                  <a:txBody>
                    <a:bodyPr/>
                    <a:lstStyle/>
                    <a:p>
                      <a:pPr algn="l">
                        <a:defRPr sz="1000" b="0">
                          <a:solidFill>
                            <a:srgbClr val="1E293B"/>
                          </a:solidFill>
                          <a:latin typeface="Calibri"/>
                        </a:defRPr>
                      </a:pPr>
                      <a:r>
                        <a:t>Jupyter Notebook / VS Code</a:t>
                      </a:r>
                    </a:p>
                  </a:txBody>
                  <a:tcPr>
                    <a:solidFill>
                      <a:srgbClr val="EFF6FF"/>
                    </a:solidFill>
                  </a:tcPr>
                </a:tc>
                <a:tc>
                  <a:txBody>
                    <a:bodyPr/>
                    <a:lstStyle/>
                    <a:p>
                      <a:pPr algn="l">
                        <a:defRPr sz="1000" b="0">
                          <a:solidFill>
                            <a:srgbClr val="1E293B"/>
                          </a:solidFill>
                          <a:latin typeface="Calibri"/>
                        </a:defRPr>
                      </a:pPr>
                      <a:r>
                        <a:t>Interactive IDE used for data exploration, model validation, and plotting.</a:t>
                      </a:r>
                    </a:p>
                  </a:txBody>
                  <a:tcPr>
                    <a:solidFill>
                      <a:srgbClr val="EFF6FF"/>
                    </a:solidFill>
                  </a:tcPr>
                </a:tc>
                <a:extLst>
                  <a:ext uri="{0D108BD9-81ED-4DB2-BD59-A6C34878D82A}">
                    <a16:rowId xmlns:a16="http://schemas.microsoft.com/office/drawing/2014/main" val="10002"/>
                  </a:ext>
                </a:extLst>
              </a:tr>
              <a:tr h="587828">
                <a:tc>
                  <a:txBody>
                    <a:bodyPr/>
                    <a:lstStyle/>
                    <a:p>
                      <a:pPr algn="l">
                        <a:defRPr sz="1000" b="0">
                          <a:solidFill>
                            <a:srgbClr val="1E293B"/>
                          </a:solidFill>
                          <a:latin typeface="Calibri"/>
                        </a:defRPr>
                      </a:pPr>
                      <a:r>
                        <a:t>Scikit-Learn Library</a:t>
                      </a:r>
                    </a:p>
                  </a:txBody>
                  <a:tcPr>
                    <a:solidFill>
                      <a:srgbClr val="FFFFFF"/>
                    </a:solidFill>
                  </a:tcPr>
                </a:tc>
                <a:tc>
                  <a:txBody>
                    <a:bodyPr/>
                    <a:lstStyle/>
                    <a:p>
                      <a:pPr algn="l">
                        <a:defRPr sz="1000" b="0">
                          <a:solidFill>
                            <a:srgbClr val="1E293B"/>
                          </a:solidFill>
                          <a:latin typeface="Calibri"/>
                        </a:defRPr>
                      </a:pPr>
                      <a:r>
                        <a:t>Provides standard ML algorithms (Random Forest), validation tools, and metrics.</a:t>
                      </a:r>
                    </a:p>
                  </a:txBody>
                  <a:tcPr>
                    <a:solidFill>
                      <a:srgbClr val="FFFFFF"/>
                    </a:solidFill>
                  </a:tcPr>
                </a:tc>
                <a:extLst>
                  <a:ext uri="{0D108BD9-81ED-4DB2-BD59-A6C34878D82A}">
                    <a16:rowId xmlns:a16="http://schemas.microsoft.com/office/drawing/2014/main" val="10003"/>
                  </a:ext>
                </a:extLst>
              </a:tr>
              <a:tr h="587828">
                <a:tc>
                  <a:txBody>
                    <a:bodyPr/>
                    <a:lstStyle/>
                    <a:p>
                      <a:pPr algn="l">
                        <a:defRPr sz="1000" b="0">
                          <a:solidFill>
                            <a:srgbClr val="1E293B"/>
                          </a:solidFill>
                          <a:latin typeface="Calibri"/>
                        </a:defRPr>
                      </a:pPr>
                      <a:r>
                        <a:t>Pandas &amp; NumPy</a:t>
                      </a:r>
                    </a:p>
                  </a:txBody>
                  <a:tcPr>
                    <a:solidFill>
                      <a:srgbClr val="EFF6FF"/>
                    </a:solidFill>
                  </a:tcPr>
                </a:tc>
                <a:tc>
                  <a:txBody>
                    <a:bodyPr/>
                    <a:lstStyle/>
                    <a:p>
                      <a:pPr algn="l">
                        <a:defRPr sz="1000" b="0">
                          <a:solidFill>
                            <a:srgbClr val="1E293B"/>
                          </a:solidFill>
                          <a:latin typeface="Calibri"/>
                        </a:defRPr>
                      </a:pPr>
                      <a:r>
                        <a:t>Used for tabular data manipulation, cleaning empty cells, and linear algebra matrix math.</a:t>
                      </a:r>
                    </a:p>
                  </a:txBody>
                  <a:tcPr>
                    <a:solidFill>
                      <a:srgbClr val="EFF6FF"/>
                    </a:solidFill>
                  </a:tcPr>
                </a:tc>
                <a:extLst>
                  <a:ext uri="{0D108BD9-81ED-4DB2-BD59-A6C34878D82A}">
                    <a16:rowId xmlns:a16="http://schemas.microsoft.com/office/drawing/2014/main" val="10004"/>
                  </a:ext>
                </a:extLst>
              </a:tr>
              <a:tr h="587828">
                <a:tc>
                  <a:txBody>
                    <a:bodyPr/>
                    <a:lstStyle/>
                    <a:p>
                      <a:pPr algn="l">
                        <a:defRPr sz="1000" b="0">
                          <a:solidFill>
                            <a:srgbClr val="1E293B"/>
                          </a:solidFill>
                          <a:latin typeface="Calibri"/>
                        </a:defRPr>
                      </a:pPr>
                      <a:r>
                        <a:t>Arduino IDE (C++)</a:t>
                      </a:r>
                    </a:p>
                  </a:txBody>
                  <a:tcPr>
                    <a:solidFill>
                      <a:srgbClr val="FFFFFF"/>
                    </a:solidFill>
                  </a:tcPr>
                </a:tc>
                <a:tc>
                  <a:txBody>
                    <a:bodyPr/>
                    <a:lstStyle/>
                    <a:p>
                      <a:pPr algn="l">
                        <a:defRPr sz="1000" b="0">
                          <a:solidFill>
                            <a:srgbClr val="1E293B"/>
                          </a:solidFill>
                          <a:latin typeface="Calibri"/>
                        </a:defRPr>
                      </a:pPr>
                      <a:r>
                        <a:t>Development software used to write, compile, and flash firmware onto the ESP32 node.</a:t>
                      </a:r>
                    </a:p>
                  </a:txBody>
                  <a:tcPr>
                    <a:solidFill>
                      <a:srgbClr val="FFFFFF"/>
                    </a:solidFill>
                  </a:tcPr>
                </a:tc>
                <a:extLst>
                  <a:ext uri="{0D108BD9-81ED-4DB2-BD59-A6C34878D82A}">
                    <a16:rowId xmlns:a16="http://schemas.microsoft.com/office/drawing/2014/main" val="10005"/>
                  </a:ext>
                </a:extLst>
              </a:tr>
              <a:tr h="587832">
                <a:tc>
                  <a:txBody>
                    <a:bodyPr/>
                    <a:lstStyle/>
                    <a:p>
                      <a:pPr algn="l">
                        <a:defRPr sz="1000" b="0">
                          <a:solidFill>
                            <a:srgbClr val="1E293B"/>
                          </a:solidFill>
                          <a:latin typeface="Calibri"/>
                        </a:defRPr>
                      </a:pPr>
                      <a:r>
                        <a:t>Flask &amp; HTML5 / JS</a:t>
                      </a:r>
                    </a:p>
                  </a:txBody>
                  <a:tcPr>
                    <a:solidFill>
                      <a:srgbClr val="EFF6FF"/>
                    </a:solidFill>
                  </a:tcPr>
                </a:tc>
                <a:tc>
                  <a:txBody>
                    <a:bodyPr/>
                    <a:lstStyle/>
                    <a:p>
                      <a:pPr algn="l">
                        <a:defRPr sz="1000" b="0">
                          <a:solidFill>
                            <a:srgbClr val="1E293B"/>
                          </a:solidFill>
                          <a:latin typeface="Calibri"/>
                        </a:defRPr>
                      </a:pPr>
                      <a:r>
                        <a:t>Lightweight backend framework and UI code to build the monitoring warning dashboard.</a:t>
                      </a:r>
                    </a:p>
                  </a:txBody>
                  <a:tcPr>
                    <a:solidFill>
                      <a:srgbClr val="EFF6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000" b="1">
                <a:solidFill>
                  <a:srgbClr val="0F2D59"/>
                </a:solidFill>
                <a:latin typeface="Calibri"/>
              </a:defRPr>
            </a:pPr>
            <a:r>
              <a:t>Data Flow Diagrams (DFD)</a:t>
            </a:r>
          </a:p>
        </p:txBody>
      </p:sp>
      <p:sp>
        <p:nvSpPr>
          <p:cNvPr id="4" name="TextBox 3"/>
          <p:cNvSpPr txBox="1"/>
          <p:nvPr/>
        </p:nvSpPr>
        <p:spPr>
          <a:xfrm>
            <a:off x="731520" y="1188720"/>
            <a:ext cx="4114800" cy="365760"/>
          </a:xfrm>
          <a:prstGeom prst="rect">
            <a:avLst/>
          </a:prstGeom>
          <a:noFill/>
        </p:spPr>
        <p:txBody>
          <a:bodyPr wrap="none">
            <a:spAutoFit/>
          </a:bodyPr>
          <a:lstStyle/>
          <a:p>
            <a:pPr>
              <a:defRPr sz="1300" b="1">
                <a:solidFill>
                  <a:srgbClr val="0F2D59"/>
                </a:solidFill>
              </a:defRPr>
            </a:pPr>
            <a:r>
              <a:t>DFD Level 0 (Context Diagram)</a:t>
            </a:r>
          </a:p>
        </p:txBody>
      </p:sp>
      <p:sp>
        <p:nvSpPr>
          <p:cNvPr id="5" name="Rounded Rectangle 4"/>
          <p:cNvSpPr/>
          <p:nvPr/>
        </p:nvSpPr>
        <p:spPr>
          <a:xfrm>
            <a:off x="731520" y="2926080"/>
            <a:ext cx="1097280" cy="914400"/>
          </a:xfrm>
          <a:prstGeom prst="roundRect">
            <a:avLst/>
          </a:prstGeom>
          <a:solidFill>
            <a:srgbClr val="EFF6FF"/>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Physical</a:t>
            </a:r>
            <a:br/>
            <a:r>
              <a:t>Sensors</a:t>
            </a:r>
          </a:p>
        </p:txBody>
      </p:sp>
      <p:sp>
        <p:nvSpPr>
          <p:cNvPr id="6" name="Right Arrow 5"/>
          <p:cNvSpPr/>
          <p:nvPr/>
        </p:nvSpPr>
        <p:spPr>
          <a:xfrm>
            <a:off x="1874519" y="3200400"/>
            <a:ext cx="457200" cy="274320"/>
          </a:xfrm>
          <a:prstGeom prst="rightArrow">
            <a:avLst/>
          </a:prstGeom>
          <a:solidFill>
            <a:srgbClr val="0F2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874519" y="2834640"/>
            <a:ext cx="457200" cy="320040"/>
          </a:xfrm>
          <a:prstGeom prst="rect">
            <a:avLst/>
          </a:prstGeom>
          <a:noFill/>
        </p:spPr>
        <p:txBody>
          <a:bodyPr wrap="square" lIns="0" tIns="0" rIns="0" bIns="0">
            <a:spAutoFit/>
          </a:bodyPr>
          <a:lstStyle/>
          <a:p>
            <a:pPr algn="ctr">
              <a:defRPr sz="800">
                <a:solidFill>
                  <a:srgbClr val="64748B"/>
                </a:solidFill>
                <a:latin typeface="Calibri"/>
              </a:defRPr>
            </a:pPr>
            <a:r>
              <a:t>Raw Signals</a:t>
            </a:r>
          </a:p>
        </p:txBody>
      </p:sp>
      <p:sp>
        <p:nvSpPr>
          <p:cNvPr id="8" name="Oval 7"/>
          <p:cNvSpPr/>
          <p:nvPr/>
        </p:nvSpPr>
        <p:spPr>
          <a:xfrm>
            <a:off x="2377440" y="2468880"/>
            <a:ext cx="1828800" cy="1645920"/>
          </a:xfrm>
          <a:prstGeom prst="ellipse">
            <a:avLst/>
          </a:prstGeom>
          <a:solidFill>
            <a:srgbClr val="EFF6FF"/>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0.0</a:t>
            </a:r>
            <a:br/>
            <a:r>
              <a:t>Environmental</a:t>
            </a:r>
            <a:br/>
            <a:r>
              <a:t>Monitoring System</a:t>
            </a:r>
          </a:p>
        </p:txBody>
      </p:sp>
      <p:sp>
        <p:nvSpPr>
          <p:cNvPr id="9" name="Right Arrow 8"/>
          <p:cNvSpPr/>
          <p:nvPr/>
        </p:nvSpPr>
        <p:spPr>
          <a:xfrm>
            <a:off x="4251960" y="3200400"/>
            <a:ext cx="457200" cy="274320"/>
          </a:xfrm>
          <a:prstGeom prst="rightArrow">
            <a:avLst/>
          </a:prstGeom>
          <a:solidFill>
            <a:srgbClr val="0F2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51960" y="2834640"/>
            <a:ext cx="457200" cy="320040"/>
          </a:xfrm>
          <a:prstGeom prst="rect">
            <a:avLst/>
          </a:prstGeom>
          <a:noFill/>
        </p:spPr>
        <p:txBody>
          <a:bodyPr wrap="square" lIns="0" tIns="0" rIns="0" bIns="0">
            <a:spAutoFit/>
          </a:bodyPr>
          <a:lstStyle/>
          <a:p>
            <a:pPr algn="ctr">
              <a:defRPr sz="800">
                <a:solidFill>
                  <a:srgbClr val="64748B"/>
                </a:solidFill>
                <a:latin typeface="Calibri"/>
              </a:defRPr>
            </a:pPr>
            <a:r>
              <a:t>Alerts &amp; Data</a:t>
            </a:r>
          </a:p>
        </p:txBody>
      </p:sp>
      <p:sp>
        <p:nvSpPr>
          <p:cNvPr id="11" name="Rounded Rectangle 10"/>
          <p:cNvSpPr/>
          <p:nvPr/>
        </p:nvSpPr>
        <p:spPr>
          <a:xfrm>
            <a:off x="4754880" y="2926080"/>
            <a:ext cx="1097280" cy="914400"/>
          </a:xfrm>
          <a:prstGeom prst="roundRect">
            <a:avLst/>
          </a:prstGeom>
          <a:solidFill>
            <a:srgbClr val="EFF6FF"/>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Local User /</a:t>
            </a:r>
            <a:br/>
            <a:r>
              <a:t>Authority</a:t>
            </a:r>
          </a:p>
        </p:txBody>
      </p:sp>
      <p:cxnSp>
        <p:nvCxnSpPr>
          <p:cNvPr id="12" name="Connector 11"/>
          <p:cNvCxnSpPr/>
          <p:nvPr/>
        </p:nvCxnSpPr>
        <p:spPr>
          <a:xfrm>
            <a:off x="6217920" y="1188720"/>
            <a:ext cx="0" cy="4754880"/>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583680" y="1188720"/>
            <a:ext cx="4572000" cy="365760"/>
          </a:xfrm>
          <a:prstGeom prst="rect">
            <a:avLst/>
          </a:prstGeom>
          <a:noFill/>
        </p:spPr>
        <p:txBody>
          <a:bodyPr wrap="none">
            <a:spAutoFit/>
          </a:bodyPr>
          <a:lstStyle/>
          <a:p>
            <a:pPr>
              <a:defRPr sz="1300" b="1">
                <a:solidFill>
                  <a:srgbClr val="0F2D59"/>
                </a:solidFill>
              </a:defRPr>
            </a:pPr>
            <a:r>
              <a:t>DFD Level 1 (Functional Decomposition)</a:t>
            </a:r>
          </a:p>
        </p:txBody>
      </p:sp>
      <p:sp>
        <p:nvSpPr>
          <p:cNvPr id="14" name="Oval 13"/>
          <p:cNvSpPr/>
          <p:nvPr/>
        </p:nvSpPr>
        <p:spPr>
          <a:xfrm>
            <a:off x="6583680" y="1828800"/>
            <a:ext cx="1645920" cy="1005840"/>
          </a:xfrm>
          <a:prstGeom prst="ellipse">
            <a:avLst/>
          </a:prstGeom>
          <a:solidFill>
            <a:srgbClr val="EFF6FF"/>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1.0</a:t>
            </a:r>
            <a:br/>
            <a:r>
              <a:t>Data Sampling</a:t>
            </a:r>
            <a:br/>
            <a:r>
              <a:t>&amp; Acquisition</a:t>
            </a:r>
          </a:p>
        </p:txBody>
      </p:sp>
      <p:sp>
        <p:nvSpPr>
          <p:cNvPr id="15" name="Right Arrow 14"/>
          <p:cNvSpPr/>
          <p:nvPr/>
        </p:nvSpPr>
        <p:spPr>
          <a:xfrm>
            <a:off x="8321040" y="2194560"/>
            <a:ext cx="457200" cy="274320"/>
          </a:xfrm>
          <a:prstGeom prst="rightArrow">
            <a:avLst/>
          </a:prstGeom>
          <a:solidFill>
            <a:srgbClr val="0F2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1828800"/>
            <a:ext cx="457200" cy="320040"/>
          </a:xfrm>
          <a:prstGeom prst="rect">
            <a:avLst/>
          </a:prstGeom>
          <a:noFill/>
        </p:spPr>
        <p:txBody>
          <a:bodyPr wrap="square" lIns="0" tIns="0" rIns="0" bIns="0">
            <a:spAutoFit/>
          </a:bodyPr>
          <a:lstStyle/>
          <a:p>
            <a:pPr algn="ctr">
              <a:defRPr sz="800">
                <a:solidFill>
                  <a:srgbClr val="64748B"/>
                </a:solidFill>
                <a:latin typeface="Calibri"/>
              </a:defRPr>
            </a:pPr>
            <a:r>
              <a:t>Raw values</a:t>
            </a:r>
          </a:p>
        </p:txBody>
      </p:sp>
      <p:sp>
        <p:nvSpPr>
          <p:cNvPr id="17" name="Oval 16"/>
          <p:cNvSpPr/>
          <p:nvPr/>
        </p:nvSpPr>
        <p:spPr>
          <a:xfrm>
            <a:off x="8869680" y="1828800"/>
            <a:ext cx="1645920" cy="1005840"/>
          </a:xfrm>
          <a:prstGeom prst="ellipse">
            <a:avLst/>
          </a:prstGeom>
          <a:solidFill>
            <a:srgbClr val="EFF6FF"/>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2.0</a:t>
            </a:r>
            <a:br/>
            <a:r>
              <a:t>Preprocessing</a:t>
            </a:r>
            <a:br/>
            <a:r>
              <a:t>&amp; Noise Filter</a:t>
            </a:r>
          </a:p>
        </p:txBody>
      </p:sp>
      <p:sp>
        <p:nvSpPr>
          <p:cNvPr id="18" name="Down Arrow 17"/>
          <p:cNvSpPr/>
          <p:nvPr/>
        </p:nvSpPr>
        <p:spPr>
          <a:xfrm>
            <a:off x="9601200" y="2926080"/>
            <a:ext cx="274320" cy="457200"/>
          </a:xfrm>
          <a:prstGeom prst="downArrow">
            <a:avLst/>
          </a:prstGeom>
          <a:solidFill>
            <a:srgbClr val="0F2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966960" y="2971800"/>
            <a:ext cx="731520" cy="320040"/>
          </a:xfrm>
          <a:prstGeom prst="rect">
            <a:avLst/>
          </a:prstGeom>
          <a:noFill/>
        </p:spPr>
        <p:txBody>
          <a:bodyPr wrap="square" lIns="0" tIns="0" rIns="0" bIns="0">
            <a:spAutoFit/>
          </a:bodyPr>
          <a:lstStyle/>
          <a:p>
            <a:pPr algn="ctr">
              <a:defRPr sz="800">
                <a:solidFill>
                  <a:srgbClr val="64748B"/>
                </a:solidFill>
                <a:latin typeface="Calibri"/>
              </a:defRPr>
            </a:pPr>
            <a:r>
              <a:t>Filtered Data</a:t>
            </a:r>
          </a:p>
        </p:txBody>
      </p:sp>
      <p:sp>
        <p:nvSpPr>
          <p:cNvPr id="20" name="Oval 19"/>
          <p:cNvSpPr/>
          <p:nvPr/>
        </p:nvSpPr>
        <p:spPr>
          <a:xfrm>
            <a:off x="8869680" y="3474720"/>
            <a:ext cx="1645920" cy="1005840"/>
          </a:xfrm>
          <a:prstGeom prst="ellipse">
            <a:avLst/>
          </a:prstGeom>
          <a:solidFill>
            <a:srgbClr val="EFF6FF"/>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3.0</a:t>
            </a:r>
            <a:br/>
            <a:r>
              <a:t>Machine Learning</a:t>
            </a:r>
            <a:br/>
            <a:r>
              <a:t>Classification</a:t>
            </a:r>
          </a:p>
        </p:txBody>
      </p:sp>
      <p:sp>
        <p:nvSpPr>
          <p:cNvPr id="21" name="Left Arrow 20"/>
          <p:cNvSpPr/>
          <p:nvPr/>
        </p:nvSpPr>
        <p:spPr>
          <a:xfrm>
            <a:off x="8321040" y="3840480"/>
            <a:ext cx="457200" cy="274320"/>
          </a:xfrm>
          <a:prstGeom prst="leftArrow">
            <a:avLst/>
          </a:prstGeom>
          <a:solidFill>
            <a:srgbClr val="0F2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21040" y="3474720"/>
            <a:ext cx="457200" cy="320040"/>
          </a:xfrm>
          <a:prstGeom prst="rect">
            <a:avLst/>
          </a:prstGeom>
          <a:noFill/>
        </p:spPr>
        <p:txBody>
          <a:bodyPr wrap="square" lIns="0" tIns="0" rIns="0" bIns="0">
            <a:spAutoFit/>
          </a:bodyPr>
          <a:lstStyle/>
          <a:p>
            <a:pPr algn="ctr">
              <a:defRPr sz="800">
                <a:solidFill>
                  <a:srgbClr val="64748B"/>
                </a:solidFill>
                <a:latin typeface="Calibri"/>
              </a:defRPr>
            </a:pPr>
            <a:r>
              <a:t>Risk State</a:t>
            </a:r>
          </a:p>
        </p:txBody>
      </p:sp>
      <p:sp>
        <p:nvSpPr>
          <p:cNvPr id="23" name="Oval 22"/>
          <p:cNvSpPr/>
          <p:nvPr/>
        </p:nvSpPr>
        <p:spPr>
          <a:xfrm>
            <a:off x="6583680" y="3474720"/>
            <a:ext cx="1645920" cy="1005840"/>
          </a:xfrm>
          <a:prstGeom prst="ellipse">
            <a:avLst/>
          </a:prstGeom>
          <a:solidFill>
            <a:srgbClr val="EFF6FF"/>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4.0</a:t>
            </a:r>
            <a:br/>
            <a:r>
              <a:t>Visuals &amp;</a:t>
            </a:r>
            <a:br/>
            <a:r>
              <a:t>Alarm Trigger</a:t>
            </a:r>
          </a:p>
        </p:txBody>
      </p:sp>
      <p:sp>
        <p:nvSpPr>
          <p:cNvPr id="24" name="Rounded Rectangle 23"/>
          <p:cNvSpPr/>
          <p:nvPr/>
        </p:nvSpPr>
        <p:spPr>
          <a:xfrm>
            <a:off x="7772400" y="4937760"/>
            <a:ext cx="3657600" cy="548640"/>
          </a:xfrm>
          <a:prstGeom prst="roundRect">
            <a:avLst/>
          </a:prstGeom>
          <a:solidFill>
            <a:srgbClr val="FFFFFF"/>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 D1: Historical Telemetry Store ===</a:t>
            </a:r>
          </a:p>
        </p:txBody>
      </p:sp>
      <p:sp>
        <p:nvSpPr>
          <p:cNvPr id="25" name="Down Arrow 24"/>
          <p:cNvSpPr/>
          <p:nvPr/>
        </p:nvSpPr>
        <p:spPr>
          <a:xfrm>
            <a:off x="9601200" y="4572000"/>
            <a:ext cx="274320" cy="320040"/>
          </a:xfrm>
          <a:prstGeom prst="downArrow">
            <a:avLst/>
          </a:prstGeom>
          <a:solidFill>
            <a:srgbClr val="0F2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966960" y="4617720"/>
            <a:ext cx="731520" cy="320040"/>
          </a:xfrm>
          <a:prstGeom prst="rect">
            <a:avLst/>
          </a:prstGeom>
          <a:noFill/>
        </p:spPr>
        <p:txBody>
          <a:bodyPr wrap="square" lIns="0" tIns="0" rIns="0" bIns="0">
            <a:spAutoFit/>
          </a:bodyPr>
          <a:lstStyle/>
          <a:p>
            <a:pPr algn="ctr">
              <a:defRPr sz="800">
                <a:solidFill>
                  <a:srgbClr val="64748B"/>
                </a:solidFill>
                <a:latin typeface="Calibri"/>
              </a:defRPr>
            </a:pPr>
            <a:r>
              <a:t>Write Logs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000" b="1">
                <a:solidFill>
                  <a:srgbClr val="0F2D59"/>
                </a:solidFill>
                <a:latin typeface="Calibri"/>
              </a:defRPr>
            </a:pPr>
            <a:r>
              <a:t>UML Use Case Diagram</a:t>
            </a:r>
          </a:p>
        </p:txBody>
      </p:sp>
      <p:sp>
        <p:nvSpPr>
          <p:cNvPr id="4" name="Rounded Rectangle 3"/>
          <p:cNvSpPr/>
          <p:nvPr/>
        </p:nvSpPr>
        <p:spPr>
          <a:xfrm>
            <a:off x="914400" y="2743200"/>
            <a:ext cx="1645920" cy="1097280"/>
          </a:xfrm>
          <a:prstGeom prst="roundRect">
            <a:avLst/>
          </a:prstGeom>
          <a:solidFill>
            <a:srgbClr val="0F2D59"/>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FFFFFF"/>
                </a:solidFill>
                <a:latin typeface="Calibri"/>
              </a:defRPr>
            </a:pPr>
            <a:r>
              <a:t>Actor:</a:t>
            </a:r>
            <a:br/>
            <a:r>
              <a:t>Hardware Sensors</a:t>
            </a:r>
          </a:p>
        </p:txBody>
      </p:sp>
      <p:sp>
        <p:nvSpPr>
          <p:cNvPr id="5" name="Oval 4"/>
          <p:cNvSpPr/>
          <p:nvPr/>
        </p:nvSpPr>
        <p:spPr>
          <a:xfrm>
            <a:off x="4114800" y="1645920"/>
            <a:ext cx="3931920" cy="731520"/>
          </a:xfrm>
          <a:prstGeom prst="ellipse">
            <a:avLst/>
          </a:prstGeom>
          <a:solidFill>
            <a:srgbClr val="EFF6FF"/>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UC1: Transmit Raw Telemetry</a:t>
            </a:r>
          </a:p>
        </p:txBody>
      </p:sp>
      <p:sp>
        <p:nvSpPr>
          <p:cNvPr id="6" name="Oval 5"/>
          <p:cNvSpPr/>
          <p:nvPr/>
        </p:nvSpPr>
        <p:spPr>
          <a:xfrm>
            <a:off x="4114800" y="2560320"/>
            <a:ext cx="3931920" cy="731520"/>
          </a:xfrm>
          <a:prstGeom prst="ellipse">
            <a:avLst/>
          </a:prstGeom>
          <a:solidFill>
            <a:srgbClr val="EFF6FF"/>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UC2: Classify Environmental Risks</a:t>
            </a:r>
          </a:p>
        </p:txBody>
      </p:sp>
      <p:sp>
        <p:nvSpPr>
          <p:cNvPr id="7" name="Oval 6"/>
          <p:cNvSpPr/>
          <p:nvPr/>
        </p:nvSpPr>
        <p:spPr>
          <a:xfrm>
            <a:off x="4114800" y="3474720"/>
            <a:ext cx="3931920" cy="731520"/>
          </a:xfrm>
          <a:prstGeom prst="ellipse">
            <a:avLst/>
          </a:prstGeom>
          <a:solidFill>
            <a:srgbClr val="EFF6FF"/>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UC3: Sound Emergency Buzzer</a:t>
            </a:r>
          </a:p>
        </p:txBody>
      </p:sp>
      <p:sp>
        <p:nvSpPr>
          <p:cNvPr id="8" name="Oval 7"/>
          <p:cNvSpPr/>
          <p:nvPr/>
        </p:nvSpPr>
        <p:spPr>
          <a:xfrm>
            <a:off x="4114800" y="4389120"/>
            <a:ext cx="3931920" cy="731520"/>
          </a:xfrm>
          <a:prstGeom prst="ellipse">
            <a:avLst/>
          </a:prstGeom>
          <a:solidFill>
            <a:srgbClr val="EFF6FF"/>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UC4: View Dashboard Analytics</a:t>
            </a:r>
          </a:p>
        </p:txBody>
      </p:sp>
      <p:sp>
        <p:nvSpPr>
          <p:cNvPr id="9" name="Oval 8"/>
          <p:cNvSpPr/>
          <p:nvPr/>
        </p:nvSpPr>
        <p:spPr>
          <a:xfrm>
            <a:off x="4114800" y="5303520"/>
            <a:ext cx="3931920" cy="731520"/>
          </a:xfrm>
          <a:prstGeom prst="ellipse">
            <a:avLst/>
          </a:prstGeom>
          <a:solidFill>
            <a:srgbClr val="EFF6FF"/>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1E293B"/>
                </a:solidFill>
                <a:latin typeface="Calibri"/>
              </a:defRPr>
            </a:pPr>
            <a:r>
              <a:t>UC5: Adjust Configuration &amp; Calibration</a:t>
            </a:r>
          </a:p>
        </p:txBody>
      </p:sp>
      <p:sp>
        <p:nvSpPr>
          <p:cNvPr id="10" name="Rounded Rectangle 9"/>
          <p:cNvSpPr/>
          <p:nvPr/>
        </p:nvSpPr>
        <p:spPr>
          <a:xfrm>
            <a:off x="9601200" y="2743200"/>
            <a:ext cx="1645920" cy="1097280"/>
          </a:xfrm>
          <a:prstGeom prst="roundRect">
            <a:avLst/>
          </a:prstGeom>
          <a:solidFill>
            <a:srgbClr val="0F2D59"/>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1000" b="1">
                <a:solidFill>
                  <a:srgbClr val="FFFFFF"/>
                </a:solidFill>
                <a:latin typeface="Calibri"/>
              </a:defRPr>
            </a:pPr>
            <a:r>
              <a:t>Actor:</a:t>
            </a:r>
            <a:br/>
            <a:r>
              <a:t>System Admin / User</a:t>
            </a:r>
          </a:p>
        </p:txBody>
      </p:sp>
      <p:cxnSp>
        <p:nvCxnSpPr>
          <p:cNvPr id="11" name="Connector 10"/>
          <p:cNvCxnSpPr/>
          <p:nvPr/>
        </p:nvCxnSpPr>
        <p:spPr>
          <a:xfrm flipV="1">
            <a:off x="2560320" y="2011680"/>
            <a:ext cx="1554480" cy="1280160"/>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560320" y="2926080"/>
            <a:ext cx="1554480" cy="365760"/>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560320" y="3291840"/>
            <a:ext cx="1554480" cy="548640"/>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8046720" y="3291840"/>
            <a:ext cx="1554480" cy="1463040"/>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8046720" y="3291840"/>
            <a:ext cx="1554480" cy="2377440"/>
          </a:xfrm>
          <a:prstGeom prst="line">
            <a:avLst/>
          </a:prstGeom>
          <a:ln w="19050">
            <a:solidFill>
              <a:srgbClr val="64748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000" b="1">
                <a:solidFill>
                  <a:srgbClr val="0F2D59"/>
                </a:solidFill>
                <a:latin typeface="Calibri"/>
              </a:defRPr>
            </a:pPr>
            <a:r>
              <a:t>UML Sequence Diagram</a:t>
            </a:r>
          </a:p>
        </p:txBody>
      </p:sp>
      <p:sp>
        <p:nvSpPr>
          <p:cNvPr id="4" name="Rounded Rectangle 3"/>
          <p:cNvSpPr/>
          <p:nvPr/>
        </p:nvSpPr>
        <p:spPr>
          <a:xfrm>
            <a:off x="228600" y="1463040"/>
            <a:ext cx="1371600" cy="457200"/>
          </a:xfrm>
          <a:prstGeom prst="roundRect">
            <a:avLst/>
          </a:prstGeom>
          <a:solidFill>
            <a:srgbClr val="0F2D59"/>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900" b="1">
                <a:solidFill>
                  <a:srgbClr val="FFFFFF"/>
                </a:solidFill>
                <a:latin typeface="Calibri"/>
              </a:defRPr>
            </a:pPr>
            <a:r>
              <a:t>Sensors</a:t>
            </a:r>
          </a:p>
        </p:txBody>
      </p:sp>
      <p:cxnSp>
        <p:nvCxnSpPr>
          <p:cNvPr id="5" name="Connector 4"/>
          <p:cNvCxnSpPr/>
          <p:nvPr/>
        </p:nvCxnSpPr>
        <p:spPr>
          <a:xfrm>
            <a:off x="914400" y="1920240"/>
            <a:ext cx="0" cy="3749040"/>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514600" y="1463040"/>
            <a:ext cx="1371600" cy="457200"/>
          </a:xfrm>
          <a:prstGeom prst="roundRect">
            <a:avLst/>
          </a:prstGeom>
          <a:solidFill>
            <a:srgbClr val="0F2D59"/>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900" b="1">
                <a:solidFill>
                  <a:srgbClr val="FFFFFF"/>
                </a:solidFill>
                <a:latin typeface="Calibri"/>
              </a:defRPr>
            </a:pPr>
            <a:r>
              <a:t>ESP32 Node</a:t>
            </a:r>
          </a:p>
        </p:txBody>
      </p:sp>
      <p:cxnSp>
        <p:nvCxnSpPr>
          <p:cNvPr id="7" name="Connector 6"/>
          <p:cNvCxnSpPr/>
          <p:nvPr/>
        </p:nvCxnSpPr>
        <p:spPr>
          <a:xfrm>
            <a:off x="3200400" y="1920240"/>
            <a:ext cx="0" cy="3749040"/>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800600" y="1463040"/>
            <a:ext cx="1371600" cy="457200"/>
          </a:xfrm>
          <a:prstGeom prst="roundRect">
            <a:avLst/>
          </a:prstGeom>
          <a:solidFill>
            <a:srgbClr val="0F2D59"/>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900" b="1">
                <a:solidFill>
                  <a:srgbClr val="FFFFFF"/>
                </a:solidFill>
                <a:latin typeface="Calibri"/>
              </a:defRPr>
            </a:pPr>
            <a:r>
              <a:t>Edge Gateway</a:t>
            </a:r>
          </a:p>
        </p:txBody>
      </p:sp>
      <p:cxnSp>
        <p:nvCxnSpPr>
          <p:cNvPr id="9" name="Connector 8"/>
          <p:cNvCxnSpPr/>
          <p:nvPr/>
        </p:nvCxnSpPr>
        <p:spPr>
          <a:xfrm>
            <a:off x="5486400" y="1920240"/>
            <a:ext cx="0" cy="3749040"/>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086600" y="1463040"/>
            <a:ext cx="1371600" cy="457200"/>
          </a:xfrm>
          <a:prstGeom prst="roundRect">
            <a:avLst/>
          </a:prstGeom>
          <a:solidFill>
            <a:srgbClr val="0F2D59"/>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900" b="1">
                <a:solidFill>
                  <a:srgbClr val="FFFFFF"/>
                </a:solidFill>
                <a:latin typeface="Calibri"/>
              </a:defRPr>
            </a:pPr>
            <a:r>
              <a:t>ML Model</a:t>
            </a:r>
          </a:p>
        </p:txBody>
      </p:sp>
      <p:cxnSp>
        <p:nvCxnSpPr>
          <p:cNvPr id="11" name="Connector 10"/>
          <p:cNvCxnSpPr/>
          <p:nvPr/>
        </p:nvCxnSpPr>
        <p:spPr>
          <a:xfrm>
            <a:off x="7772400" y="1920240"/>
            <a:ext cx="0" cy="3749040"/>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915400" y="1463040"/>
            <a:ext cx="1371600" cy="457200"/>
          </a:xfrm>
          <a:prstGeom prst="roundRect">
            <a:avLst/>
          </a:prstGeom>
          <a:solidFill>
            <a:srgbClr val="0F2D59"/>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900" b="1">
                <a:solidFill>
                  <a:srgbClr val="FFFFFF"/>
                </a:solidFill>
                <a:latin typeface="Calibri"/>
              </a:defRPr>
            </a:pPr>
            <a:r>
              <a:t>Database</a:t>
            </a:r>
          </a:p>
        </p:txBody>
      </p:sp>
      <p:cxnSp>
        <p:nvCxnSpPr>
          <p:cNvPr id="13" name="Connector 12"/>
          <p:cNvCxnSpPr/>
          <p:nvPr/>
        </p:nvCxnSpPr>
        <p:spPr>
          <a:xfrm>
            <a:off x="9601200" y="1920240"/>
            <a:ext cx="0" cy="3749040"/>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0469880" y="1463040"/>
            <a:ext cx="1371600" cy="457200"/>
          </a:xfrm>
          <a:prstGeom prst="roundRect">
            <a:avLst/>
          </a:prstGeom>
          <a:solidFill>
            <a:srgbClr val="0F2D59"/>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sz="900" b="1">
                <a:solidFill>
                  <a:srgbClr val="FFFFFF"/>
                </a:solidFill>
                <a:latin typeface="Calibri"/>
              </a:defRPr>
            </a:pPr>
            <a:r>
              <a:t>Local User</a:t>
            </a:r>
          </a:p>
        </p:txBody>
      </p:sp>
      <p:cxnSp>
        <p:nvCxnSpPr>
          <p:cNvPr id="15" name="Connector 14"/>
          <p:cNvCxnSpPr/>
          <p:nvPr/>
        </p:nvCxnSpPr>
        <p:spPr>
          <a:xfrm>
            <a:off x="11155680" y="1920240"/>
            <a:ext cx="0" cy="3749040"/>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16" name="Right Arrow 15"/>
          <p:cNvSpPr/>
          <p:nvPr/>
        </p:nvSpPr>
        <p:spPr>
          <a:xfrm>
            <a:off x="914400" y="2331720"/>
            <a:ext cx="2286000" cy="54864"/>
          </a:xfrm>
          <a:prstGeom prst="rightArrow">
            <a:avLst/>
          </a:prstGeom>
          <a:solidFill>
            <a:srgbClr val="0F2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2103120"/>
            <a:ext cx="2286000" cy="228600"/>
          </a:xfrm>
          <a:prstGeom prst="rect">
            <a:avLst/>
          </a:prstGeom>
          <a:noFill/>
        </p:spPr>
        <p:txBody>
          <a:bodyPr wrap="square" lIns="0" tIns="0" rIns="0" bIns="0">
            <a:spAutoFit/>
          </a:bodyPr>
          <a:lstStyle/>
          <a:p>
            <a:pPr algn="ctr">
              <a:defRPr sz="850">
                <a:solidFill>
                  <a:srgbClr val="1E293B"/>
                </a:solidFill>
                <a:latin typeface="Calibri"/>
              </a:defRPr>
            </a:pPr>
            <a:r>
              <a:t>1. Fetch raw voltage values</a:t>
            </a:r>
          </a:p>
        </p:txBody>
      </p:sp>
      <p:sp>
        <p:nvSpPr>
          <p:cNvPr id="18" name="Right Arrow 17"/>
          <p:cNvSpPr/>
          <p:nvPr/>
        </p:nvSpPr>
        <p:spPr>
          <a:xfrm>
            <a:off x="3200400" y="2880360"/>
            <a:ext cx="2286000" cy="54864"/>
          </a:xfrm>
          <a:prstGeom prst="rightArrow">
            <a:avLst/>
          </a:prstGeom>
          <a:solidFill>
            <a:srgbClr val="0F2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200400" y="2651760"/>
            <a:ext cx="2286000" cy="228600"/>
          </a:xfrm>
          <a:prstGeom prst="rect">
            <a:avLst/>
          </a:prstGeom>
          <a:noFill/>
        </p:spPr>
        <p:txBody>
          <a:bodyPr wrap="square" lIns="0" tIns="0" rIns="0" bIns="0">
            <a:spAutoFit/>
          </a:bodyPr>
          <a:lstStyle/>
          <a:p>
            <a:pPr algn="ctr">
              <a:defRPr sz="850">
                <a:solidFill>
                  <a:srgbClr val="1E293B"/>
                </a:solidFill>
                <a:latin typeface="Calibri"/>
              </a:defRPr>
            </a:pPr>
            <a:r>
              <a:t>2. Send clean telemetry packets</a:t>
            </a:r>
          </a:p>
        </p:txBody>
      </p:sp>
      <p:sp>
        <p:nvSpPr>
          <p:cNvPr id="20" name="Right Arrow 19"/>
          <p:cNvSpPr/>
          <p:nvPr/>
        </p:nvSpPr>
        <p:spPr>
          <a:xfrm>
            <a:off x="5486400" y="3429000"/>
            <a:ext cx="2286000" cy="54864"/>
          </a:xfrm>
          <a:prstGeom prst="rightArrow">
            <a:avLst/>
          </a:prstGeom>
          <a:solidFill>
            <a:srgbClr val="0F2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86400" y="3200400"/>
            <a:ext cx="2286000" cy="228600"/>
          </a:xfrm>
          <a:prstGeom prst="rect">
            <a:avLst/>
          </a:prstGeom>
          <a:noFill/>
        </p:spPr>
        <p:txBody>
          <a:bodyPr wrap="square" lIns="0" tIns="0" rIns="0" bIns="0">
            <a:spAutoFit/>
          </a:bodyPr>
          <a:lstStyle/>
          <a:p>
            <a:pPr algn="ctr">
              <a:defRPr sz="850">
                <a:solidFill>
                  <a:srgbClr val="1E293B"/>
                </a:solidFill>
                <a:latin typeface="Calibri"/>
              </a:defRPr>
            </a:pPr>
            <a:r>
              <a:t>3. predict_hazard(X_new)</a:t>
            </a:r>
          </a:p>
        </p:txBody>
      </p:sp>
      <p:sp>
        <p:nvSpPr>
          <p:cNvPr id="22" name="Left Arrow 21"/>
          <p:cNvSpPr/>
          <p:nvPr/>
        </p:nvSpPr>
        <p:spPr>
          <a:xfrm>
            <a:off x="5486400" y="3977639"/>
            <a:ext cx="2286000" cy="54864"/>
          </a:xfrm>
          <a:prstGeom prst="leftArrow">
            <a:avLst/>
          </a:prstGeom>
          <a:solidFill>
            <a:srgbClr val="0F2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86400" y="3749039"/>
            <a:ext cx="2286000" cy="228600"/>
          </a:xfrm>
          <a:prstGeom prst="rect">
            <a:avLst/>
          </a:prstGeom>
          <a:noFill/>
        </p:spPr>
        <p:txBody>
          <a:bodyPr wrap="square" lIns="0" tIns="0" rIns="0" bIns="0">
            <a:spAutoFit/>
          </a:bodyPr>
          <a:lstStyle/>
          <a:p>
            <a:pPr algn="ctr">
              <a:defRPr sz="850">
                <a:solidFill>
                  <a:srgbClr val="1E293B"/>
                </a:solidFill>
                <a:latin typeface="Calibri"/>
              </a:defRPr>
            </a:pPr>
            <a:r>
              <a:t>4. Return predicted risk class</a:t>
            </a:r>
          </a:p>
        </p:txBody>
      </p:sp>
      <p:sp>
        <p:nvSpPr>
          <p:cNvPr id="24" name="Right Arrow 23"/>
          <p:cNvSpPr/>
          <p:nvPr/>
        </p:nvSpPr>
        <p:spPr>
          <a:xfrm>
            <a:off x="5486400" y="4526280"/>
            <a:ext cx="4114800" cy="54864"/>
          </a:xfrm>
          <a:prstGeom prst="rightArrow">
            <a:avLst/>
          </a:prstGeom>
          <a:solidFill>
            <a:srgbClr val="0F2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486400" y="4297680"/>
            <a:ext cx="4114800" cy="228600"/>
          </a:xfrm>
          <a:prstGeom prst="rect">
            <a:avLst/>
          </a:prstGeom>
          <a:noFill/>
        </p:spPr>
        <p:txBody>
          <a:bodyPr wrap="square" lIns="0" tIns="0" rIns="0" bIns="0">
            <a:spAutoFit/>
          </a:bodyPr>
          <a:lstStyle/>
          <a:p>
            <a:pPr algn="ctr">
              <a:defRPr sz="850">
                <a:solidFill>
                  <a:srgbClr val="1E293B"/>
                </a:solidFill>
                <a:latin typeface="Calibri"/>
              </a:defRPr>
            </a:pPr>
            <a:r>
              <a:t>5. Store log parameters</a:t>
            </a:r>
          </a:p>
        </p:txBody>
      </p:sp>
      <p:sp>
        <p:nvSpPr>
          <p:cNvPr id="26" name="Right Arrow 25"/>
          <p:cNvSpPr/>
          <p:nvPr/>
        </p:nvSpPr>
        <p:spPr>
          <a:xfrm>
            <a:off x="5486400" y="5074920"/>
            <a:ext cx="5669279" cy="54864"/>
          </a:xfrm>
          <a:prstGeom prst="rightArrow">
            <a:avLst/>
          </a:prstGeom>
          <a:solidFill>
            <a:srgbClr val="0F2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486400" y="4846320"/>
            <a:ext cx="5669279" cy="228600"/>
          </a:xfrm>
          <a:prstGeom prst="rect">
            <a:avLst/>
          </a:prstGeom>
          <a:noFill/>
        </p:spPr>
        <p:txBody>
          <a:bodyPr wrap="square" lIns="0" tIns="0" rIns="0" bIns="0">
            <a:spAutoFit/>
          </a:bodyPr>
          <a:lstStyle/>
          <a:p>
            <a:pPr algn="ctr">
              <a:defRPr sz="850">
                <a:solidFill>
                  <a:srgbClr val="1E293B"/>
                </a:solidFill>
                <a:latin typeface="Calibri"/>
              </a:defRPr>
            </a:pPr>
            <a:r>
              <a:t>6. Update web dashboard &amp; alarm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000" b="1">
                <a:solidFill>
                  <a:srgbClr val="0F2D59"/>
                </a:solidFill>
                <a:latin typeface="Calibri"/>
              </a:defRPr>
            </a:pPr>
            <a:r>
              <a:t>Algorithm / Pseudocode</a:t>
            </a:r>
          </a:p>
        </p:txBody>
      </p:sp>
      <p:sp>
        <p:nvSpPr>
          <p:cNvPr id="4" name="Rectangle 3"/>
          <p:cNvSpPr/>
          <p:nvPr/>
        </p:nvSpPr>
        <p:spPr>
          <a:xfrm>
            <a:off x="731520" y="1371600"/>
            <a:ext cx="10728655" cy="4754880"/>
          </a:xfrm>
          <a:prstGeom prst="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l">
              <a:spcAft>
                <a:spcPts val="200"/>
              </a:spcAft>
              <a:defRPr sz="1000">
                <a:solidFill>
                  <a:srgbClr val="1E293B"/>
                </a:solidFill>
                <a:latin typeface="Consolas"/>
              </a:defRPr>
            </a:pPr>
            <a:r>
              <a:t>Algorithm: Edge Telemetry Processing &amp; Hazard Classification</a:t>
            </a:r>
          </a:p>
          <a:p>
            <a:pPr algn="l">
              <a:spcAft>
                <a:spcPts val="200"/>
              </a:spcAft>
              <a:defRPr sz="1000">
                <a:solidFill>
                  <a:srgbClr val="1E293B"/>
                </a:solidFill>
                <a:latin typeface="Consolas"/>
              </a:defRPr>
            </a:pPr>
            <a:r>
              <a:t>Input: Real-time telemetry readings (T, H, G, W)</a:t>
            </a:r>
          </a:p>
          <a:p>
            <a:pPr algn="l">
              <a:spcAft>
                <a:spcPts val="200"/>
              </a:spcAft>
              <a:defRPr sz="1000">
                <a:solidFill>
                  <a:srgbClr val="1E293B"/>
                </a:solidFill>
                <a:latin typeface="Consolas"/>
              </a:defRPr>
            </a:pPr>
            <a:r>
              <a:t>Output: Hazard warning alert state and dashboard update</a:t>
            </a:r>
          </a:p>
          <a:p>
            <a:pPr algn="l">
              <a:spcAft>
                <a:spcPts val="200"/>
              </a:spcAft>
              <a:defRPr sz="1000">
                <a:solidFill>
                  <a:srgbClr val="1E293B"/>
                </a:solidFill>
                <a:latin typeface="Consolas"/>
              </a:defRPr>
            </a:pPr>
            <a:endParaRPr/>
          </a:p>
          <a:p>
            <a:pPr algn="l">
              <a:spcAft>
                <a:spcPts val="200"/>
              </a:spcAft>
              <a:defRPr sz="1000">
                <a:solidFill>
                  <a:srgbClr val="1E293B"/>
                </a:solidFill>
                <a:latin typeface="Consolas"/>
              </a:defRPr>
            </a:pPr>
            <a:r>
              <a:t>1:  Load pre-trained Random Forest Classifier model weights</a:t>
            </a:r>
          </a:p>
          <a:p>
            <a:pPr algn="l">
              <a:spcAft>
                <a:spcPts val="200"/>
              </a:spcAft>
              <a:defRPr sz="1000">
                <a:solidFill>
                  <a:srgbClr val="1E293B"/>
                </a:solidFill>
                <a:latin typeface="Consolas"/>
              </a:defRPr>
            </a:pPr>
            <a:r>
              <a:t>2:  Initialize LoRa RFM95W hardware mesh connection</a:t>
            </a:r>
          </a:p>
          <a:p>
            <a:pPr algn="l">
              <a:spcAft>
                <a:spcPts val="200"/>
              </a:spcAft>
              <a:defRPr sz="1000">
                <a:solidFill>
                  <a:srgbClr val="1E293B"/>
                </a:solidFill>
                <a:latin typeface="Consolas"/>
              </a:defRPr>
            </a:pPr>
            <a:r>
              <a:t>3:  WHILE system is active DO</a:t>
            </a:r>
          </a:p>
          <a:p>
            <a:pPr algn="l">
              <a:spcAft>
                <a:spcPts val="200"/>
              </a:spcAft>
              <a:defRPr sz="1000">
                <a:solidFill>
                  <a:srgbClr val="1E293B"/>
                </a:solidFill>
                <a:latin typeface="Consolas"/>
              </a:defRPr>
            </a:pPr>
            <a:r>
              <a:t>4:      Read raw T (temperature), H (humidity), G (gas ppm), W (water level)</a:t>
            </a:r>
          </a:p>
          <a:p>
            <a:pPr algn="l">
              <a:spcAft>
                <a:spcPts val="200"/>
              </a:spcAft>
              <a:defRPr sz="1000">
                <a:solidFill>
                  <a:srgbClr val="1E293B"/>
                </a:solidFill>
                <a:latin typeface="Consolas"/>
              </a:defRPr>
            </a:pPr>
            <a:r>
              <a:t>5:      Apply Moving Average Filter over 5-sample window to smooth noise</a:t>
            </a:r>
          </a:p>
          <a:p>
            <a:pPr algn="l">
              <a:spcAft>
                <a:spcPts val="200"/>
              </a:spcAft>
              <a:defRPr sz="1000">
                <a:solidFill>
                  <a:srgbClr val="1E293B"/>
                </a:solidFill>
                <a:latin typeface="Consolas"/>
              </a:defRPr>
            </a:pPr>
            <a:r>
              <a:t>6:      Calculate rates of change: delta_T (last 5 min), delta_W (last 5 min)</a:t>
            </a:r>
          </a:p>
          <a:p>
            <a:pPr algn="l">
              <a:spcAft>
                <a:spcPts val="200"/>
              </a:spcAft>
              <a:defRPr sz="1000">
                <a:solidFill>
                  <a:srgbClr val="1E293B"/>
                </a:solidFill>
                <a:latin typeface="Consolas"/>
              </a:defRPr>
            </a:pPr>
            <a:r>
              <a:t>7:      Construct input feature array: X_new = [T, H, G, W, delta_T, delta_W]</a:t>
            </a:r>
          </a:p>
          <a:p>
            <a:pPr algn="l">
              <a:spcAft>
                <a:spcPts val="200"/>
              </a:spcAft>
              <a:defRPr sz="1000">
                <a:solidFill>
                  <a:srgbClr val="1E293B"/>
                </a:solidFill>
                <a:latin typeface="Consolas"/>
              </a:defRPr>
            </a:pPr>
            <a:r>
              <a:t>8:      y_pred = model.predict(X_new)</a:t>
            </a:r>
          </a:p>
          <a:p>
            <a:pPr algn="l">
              <a:spcAft>
                <a:spcPts val="200"/>
              </a:spcAft>
              <a:defRPr sz="1000">
                <a:solidFill>
                  <a:srgbClr val="1E293B"/>
                </a:solidFill>
                <a:latin typeface="Consolas"/>
              </a:defRPr>
            </a:pPr>
            <a:r>
              <a:t>9:      IF y_pred is NOT "Normal" THEN</a:t>
            </a:r>
          </a:p>
          <a:p>
            <a:pPr algn="l">
              <a:spcAft>
                <a:spcPts val="200"/>
              </a:spcAft>
              <a:defRPr sz="1000">
                <a:solidFill>
                  <a:srgbClr val="1E293B"/>
                </a:solidFill>
                <a:latin typeface="Consolas"/>
              </a:defRPr>
            </a:pPr>
            <a:r>
              <a:t>10:         Sound local audio warning siren (buzzer)</a:t>
            </a:r>
          </a:p>
          <a:p>
            <a:pPr algn="l">
              <a:spcAft>
                <a:spcPts val="200"/>
              </a:spcAft>
              <a:defRPr sz="1000">
                <a:solidFill>
                  <a:srgbClr val="1E293B"/>
                </a:solidFill>
                <a:latin typeface="Consolas"/>
              </a:defRPr>
            </a:pPr>
            <a:r>
              <a:t>11:         Broadcast LoRa alarm package: [y_pred, location_ID]</a:t>
            </a:r>
          </a:p>
          <a:p>
            <a:pPr algn="l">
              <a:spcAft>
                <a:spcPts val="200"/>
              </a:spcAft>
              <a:defRPr sz="1000">
                <a:solidFill>
                  <a:srgbClr val="1E293B"/>
                </a:solidFill>
                <a:latin typeface="Consolas"/>
              </a:defRPr>
            </a:pPr>
            <a:r>
              <a:t>12:     ELSE</a:t>
            </a:r>
          </a:p>
          <a:p>
            <a:pPr algn="l">
              <a:spcAft>
                <a:spcPts val="200"/>
              </a:spcAft>
              <a:defRPr sz="1000">
                <a:solidFill>
                  <a:srgbClr val="1E293B"/>
                </a:solidFill>
                <a:latin typeface="Consolas"/>
              </a:defRPr>
            </a:pPr>
            <a:r>
              <a:t>13:         Transmit standard telemetry data log</a:t>
            </a:r>
          </a:p>
          <a:p>
            <a:pPr algn="l">
              <a:spcAft>
                <a:spcPts val="200"/>
              </a:spcAft>
              <a:defRPr sz="1000">
                <a:solidFill>
                  <a:srgbClr val="1E293B"/>
                </a:solidFill>
                <a:latin typeface="Consolas"/>
              </a:defRPr>
            </a:pPr>
            <a:r>
              <a:t>14:     END IF</a:t>
            </a:r>
          </a:p>
          <a:p>
            <a:pPr algn="l">
              <a:spcAft>
                <a:spcPts val="200"/>
              </a:spcAft>
              <a:defRPr sz="1000">
                <a:solidFill>
                  <a:srgbClr val="1E293B"/>
                </a:solidFill>
                <a:latin typeface="Consolas"/>
              </a:defRPr>
            </a:pPr>
            <a:r>
              <a:t>15:     Log metrics and prediction output to local telemetry database</a:t>
            </a:r>
          </a:p>
          <a:p>
            <a:pPr algn="l">
              <a:spcAft>
                <a:spcPts val="200"/>
              </a:spcAft>
              <a:defRPr sz="1000">
                <a:solidFill>
                  <a:srgbClr val="1E293B"/>
                </a:solidFill>
                <a:latin typeface="Consolas"/>
              </a:defRPr>
            </a:pPr>
            <a:r>
              <a:t>16:     Wait 10 seconds</a:t>
            </a:r>
          </a:p>
          <a:p>
            <a:pPr algn="l">
              <a:spcAft>
                <a:spcPts val="200"/>
              </a:spcAft>
              <a:defRPr sz="1000">
                <a:solidFill>
                  <a:srgbClr val="1E293B"/>
                </a:solidFill>
                <a:latin typeface="Consolas"/>
              </a:defRPr>
            </a:pPr>
            <a:r>
              <a:t>17: END WHILE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000" b="1">
                <a:solidFill>
                  <a:srgbClr val="0F2D59"/>
                </a:solidFill>
                <a:latin typeface="Calibri"/>
              </a:defRPr>
            </a:pPr>
            <a:r>
              <a:t>Machine Learning Algorithm Selection</a:t>
            </a:r>
          </a:p>
        </p:txBody>
      </p:sp>
      <p:sp>
        <p:nvSpPr>
          <p:cNvPr id="4" name="Rectangle 3"/>
          <p:cNvSpPr/>
          <p:nvPr/>
        </p:nvSpPr>
        <p:spPr>
          <a:xfrm>
            <a:off x="7772400" y="1645920"/>
            <a:ext cx="3657600" cy="4114800"/>
          </a:xfrm>
          <a:prstGeom prst="rect">
            <a:avLst/>
          </a:prstGeom>
          <a:solidFill>
            <a:srgbClr val="FFFFFF"/>
          </a:solidFill>
          <a:ln w="19050">
            <a:solidFill>
              <a:srgbClr val="0F2D59"/>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spcAft>
                <a:spcPts val="1500"/>
              </a:spcAft>
              <a:defRPr sz="1500" b="1">
                <a:solidFill>
                  <a:srgbClr val="0F2D59"/>
                </a:solidFill>
                <a:latin typeface="Calibri"/>
              </a:defRPr>
            </a:pPr>
            <a:r>
              <a:t>Random Forest Logic</a:t>
            </a:r>
          </a:p>
          <a:p>
            <a:pPr>
              <a:spcAft>
                <a:spcPts val="1000"/>
              </a:spcAft>
              <a:defRPr sz="1200">
                <a:solidFill>
                  <a:srgbClr val="1E293B"/>
                </a:solidFill>
                <a:latin typeface="Calibri"/>
              </a:defRPr>
            </a:pPr>
            <a:r>
              <a:t>• Input Vector: [T, H, G, W, delta_T, delta_W]</a:t>
            </a:r>
          </a:p>
          <a:p>
            <a:pPr>
              <a:spcAft>
                <a:spcPts val="1000"/>
              </a:spcAft>
              <a:defRPr sz="1200">
                <a:solidFill>
                  <a:srgbClr val="1E293B"/>
                </a:solidFill>
                <a:latin typeface="Calibri"/>
              </a:defRPr>
            </a:pPr>
            <a:r>
              <a:t>• Classifier Structure: Ensemble of multiple parallel decision trees.</a:t>
            </a:r>
          </a:p>
          <a:p>
            <a:pPr>
              <a:spcAft>
                <a:spcPts val="1000"/>
              </a:spcAft>
              <a:defRPr sz="1200">
                <a:solidFill>
                  <a:srgbClr val="1E293B"/>
                </a:solidFill>
                <a:latin typeface="Calibri"/>
              </a:defRPr>
            </a:pPr>
            <a:r>
              <a:t>• Decision Mechanism: Majority voting determines final class.</a:t>
            </a:r>
          </a:p>
          <a:p>
            <a:pPr>
              <a:spcAft>
                <a:spcPts val="1000"/>
              </a:spcAft>
              <a:defRPr sz="1200">
                <a:solidFill>
                  <a:srgbClr val="1E293B"/>
                </a:solidFill>
                <a:latin typeface="Calibri"/>
              </a:defRPr>
            </a:pPr>
            <a:r>
              <a:t>• Target Classes:</a:t>
            </a:r>
            <a:br/>
            <a:r>
              <a:t>  - Normal</a:t>
            </a:r>
            <a:br/>
            <a:r>
              <a:t>  - Forest Fire Risk</a:t>
            </a:r>
            <a:br/>
            <a:r>
              <a:t>  - Flash Flood Risk</a:t>
            </a:r>
            <a:br/>
            <a:r>
              <a:t>  - Air Pollution Spikes</a:t>
            </a:r>
          </a:p>
        </p:txBody>
      </p:sp>
      <p:sp>
        <p:nvSpPr>
          <p:cNvPr id="5" name="TextBox 4"/>
          <p:cNvSpPr txBox="1"/>
          <p:nvPr/>
        </p:nvSpPr>
        <p:spPr>
          <a:xfrm>
            <a:off x="731520" y="1645920"/>
            <a:ext cx="6583680" cy="4389120"/>
          </a:xfrm>
          <a:prstGeom prst="rect">
            <a:avLst/>
          </a:prstGeom>
          <a:noFill/>
        </p:spPr>
        <p:txBody>
          <a:bodyPr wrap="square" lIns="0" tIns="0" rIns="0" bIns="0">
            <a:spAutoFit/>
          </a:bodyPr>
          <a:lstStyle/>
          <a:p>
            <a:pPr>
              <a:spcAft>
                <a:spcPts val="1000"/>
              </a:spcAft>
              <a:defRPr sz="1500">
                <a:solidFill>
                  <a:srgbClr val="1E293B"/>
                </a:solidFill>
                <a:latin typeface="Calibri"/>
              </a:defRPr>
            </a:pPr>
            <a:r>
              <a:rPr b="1">
                <a:solidFill>
                  <a:srgbClr val="0F2D59"/>
                </a:solidFill>
              </a:rPr>
              <a:t>• Primary Model:</a:t>
            </a:r>
            <a:r>
              <a:rPr b="0">
                <a:solidFill>
                  <a:srgbClr val="1E293B"/>
                </a:solidFill>
              </a:rPr>
              <a:t> Random Forest Classifier (Supervised Ensemble Learning).</a:t>
            </a:r>
          </a:p>
          <a:p>
            <a:pPr>
              <a:spcAft>
                <a:spcPts val="1000"/>
              </a:spcAft>
              <a:defRPr sz="1500">
                <a:solidFill>
                  <a:srgbClr val="1E293B"/>
                </a:solidFill>
                <a:latin typeface="Calibri"/>
              </a:defRPr>
            </a:pPr>
            <a:r>
              <a:rPr b="1">
                <a:solidFill>
                  <a:srgbClr val="0F2D59"/>
                </a:solidFill>
              </a:rPr>
              <a:t>• Why Selected:</a:t>
            </a:r>
            <a:r>
              <a:rPr b="0">
                <a:solidFill>
                  <a:srgbClr val="1E293B"/>
                </a:solidFill>
              </a:rPr>
              <a:t> Highly robust against environmental sensor noise and baseline drift. Handles non-linear splits well.</a:t>
            </a:r>
          </a:p>
          <a:p>
            <a:pPr>
              <a:spcAft>
                <a:spcPts val="1000"/>
              </a:spcAft>
              <a:defRPr sz="1500">
                <a:solidFill>
                  <a:srgbClr val="1E293B"/>
                </a:solidFill>
                <a:latin typeface="Calibri"/>
              </a:defRPr>
            </a:pPr>
            <a:r>
              <a:rPr b="1">
                <a:solidFill>
                  <a:srgbClr val="0F2D59"/>
                </a:solidFill>
              </a:rPr>
              <a:t>• Training Data:</a:t>
            </a:r>
            <a:r>
              <a:rPr b="0">
                <a:solidFill>
                  <a:srgbClr val="1E293B"/>
                </a:solidFill>
              </a:rPr>
              <a:t> Historical datasets containing temperature, humidity, gas PPM, and water levels during fire, flood, and clean states.</a:t>
            </a:r>
          </a:p>
          <a:p>
            <a:pPr>
              <a:spcAft>
                <a:spcPts val="1000"/>
              </a:spcAft>
              <a:defRPr sz="1500">
                <a:solidFill>
                  <a:srgbClr val="1E293B"/>
                </a:solidFill>
                <a:latin typeface="Calibri"/>
              </a:defRPr>
            </a:pPr>
            <a:r>
              <a:rPr b="1">
                <a:solidFill>
                  <a:srgbClr val="0F2D59"/>
                </a:solidFill>
              </a:rPr>
              <a:t>• Edge Friendly:</a:t>
            </a:r>
            <a:r>
              <a:rPr b="0">
                <a:solidFill>
                  <a:srgbClr val="1E293B"/>
                </a:solidFill>
              </a:rPr>
              <a:t> Model size is small enough to compile into C++ array weights (using micro-tensor compilers) for offline gateway operation.</a:t>
            </a:r>
          </a:p>
          <a:p>
            <a:pPr>
              <a:spcAft>
                <a:spcPts val="1000"/>
              </a:spcAft>
              <a:defRPr sz="1500">
                <a:solidFill>
                  <a:srgbClr val="1E293B"/>
                </a:solidFill>
                <a:latin typeface="Calibri"/>
              </a:defRPr>
            </a:pPr>
            <a:r>
              <a:rPr b="1">
                <a:solidFill>
                  <a:srgbClr val="0F2D59"/>
                </a:solidFill>
              </a:rPr>
              <a:t>• Alternate Models Evaluated:</a:t>
            </a:r>
            <a:r>
              <a:rPr b="0">
                <a:solidFill>
                  <a:srgbClr val="1E293B"/>
                </a:solidFill>
              </a:rPr>
              <a:t> Decision Tree (prone to overfitting) and XGBoost (better accuracy but higher memory footprint).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000" b="1">
                <a:solidFill>
                  <a:srgbClr val="0F2D59"/>
                </a:solidFill>
                <a:latin typeface="Calibri"/>
              </a:defRPr>
            </a:pPr>
            <a:r>
              <a:t>Evaluation Metrics</a:t>
            </a:r>
          </a:p>
        </p:txBody>
      </p:sp>
      <p:sp>
        <p:nvSpPr>
          <p:cNvPr id="4" name="TextBox 3"/>
          <p:cNvSpPr txBox="1"/>
          <p:nvPr/>
        </p:nvSpPr>
        <p:spPr>
          <a:xfrm>
            <a:off x="731520" y="1645920"/>
            <a:ext cx="10728655" cy="4572000"/>
          </a:xfrm>
          <a:prstGeom prst="rect">
            <a:avLst/>
          </a:prstGeom>
          <a:noFill/>
        </p:spPr>
        <p:txBody>
          <a:bodyPr wrap="square" lIns="0" tIns="0" rIns="0" bIns="0">
            <a:spAutoFit/>
          </a:bodyPr>
          <a:lstStyle/>
          <a:p>
            <a:pPr>
              <a:spcAft>
                <a:spcPts val="1000"/>
              </a:spcAft>
              <a:defRPr sz="1500">
                <a:solidFill>
                  <a:srgbClr val="1E293B"/>
                </a:solidFill>
                <a:latin typeface="Calibri"/>
              </a:defRPr>
            </a:pPr>
            <a:r>
              <a:rPr b="1">
                <a:solidFill>
                  <a:srgbClr val="0F2D59"/>
                </a:solidFill>
              </a:rPr>
              <a:t>• Accuracy:</a:t>
            </a:r>
            <a:r>
              <a:rPr b="0">
                <a:solidFill>
                  <a:srgbClr val="1E293B"/>
                </a:solidFill>
              </a:rPr>
              <a:t> Total ratio of correct hazard state predictions to total instances. Serves as basic validation.</a:t>
            </a:r>
          </a:p>
          <a:p>
            <a:pPr>
              <a:spcAft>
                <a:spcPts val="1000"/>
              </a:spcAft>
              <a:defRPr sz="1500">
                <a:solidFill>
                  <a:srgbClr val="1E293B"/>
                </a:solidFill>
                <a:latin typeface="Calibri"/>
              </a:defRPr>
            </a:pPr>
            <a:r>
              <a:rPr b="1">
                <a:solidFill>
                  <a:srgbClr val="0F2D59"/>
                </a:solidFill>
              </a:rPr>
              <a:t>• Precision:</a:t>
            </a:r>
            <a:r>
              <a:rPr b="0">
                <a:solidFill>
                  <a:srgbClr val="1E293B"/>
                </a:solidFill>
              </a:rPr>
              <a:t> Focuses on positive alert reliability (True Alert / Total Alerts). Critical for preventing false alarm spikes that cause user fatigue.</a:t>
            </a:r>
          </a:p>
          <a:p>
            <a:pPr>
              <a:spcAft>
                <a:spcPts val="1000"/>
              </a:spcAft>
              <a:defRPr sz="1500">
                <a:solidFill>
                  <a:srgbClr val="1E293B"/>
                </a:solidFill>
                <a:latin typeface="Calibri"/>
              </a:defRPr>
            </a:pPr>
            <a:r>
              <a:rPr b="1">
                <a:solidFill>
                  <a:srgbClr val="0F2D59"/>
                </a:solidFill>
              </a:rPr>
              <a:t>• Recall (Sensitivity):</a:t>
            </a:r>
            <a:r>
              <a:rPr b="0">
                <a:solidFill>
                  <a:srgbClr val="1E293B"/>
                </a:solidFill>
              </a:rPr>
              <a:t> Focuses on catching all real risks (True Alert / Total Actual Hazards). This is our most critical safety metric, as missed hazards lead to casualties.</a:t>
            </a:r>
          </a:p>
          <a:p>
            <a:pPr>
              <a:spcAft>
                <a:spcPts val="1000"/>
              </a:spcAft>
              <a:defRPr sz="1500">
                <a:solidFill>
                  <a:srgbClr val="1E293B"/>
                </a:solidFill>
                <a:latin typeface="Calibri"/>
              </a:defRPr>
            </a:pPr>
            <a:r>
              <a:rPr b="1">
                <a:solidFill>
                  <a:srgbClr val="0F2D59"/>
                </a:solidFill>
              </a:rPr>
              <a:t>• F1-Score:</a:t>
            </a:r>
            <a:r>
              <a:rPr b="0">
                <a:solidFill>
                  <a:srgbClr val="1E293B"/>
                </a:solidFill>
              </a:rPr>
              <a:t> Harmonic mean of Precision and Recall. Provides a single metric to balance model safety and accuracy.</a:t>
            </a:r>
          </a:p>
          <a:p>
            <a:pPr>
              <a:spcAft>
                <a:spcPts val="1000"/>
              </a:spcAft>
              <a:defRPr sz="1500">
                <a:solidFill>
                  <a:srgbClr val="1E293B"/>
                </a:solidFill>
                <a:latin typeface="Calibri"/>
              </a:defRPr>
            </a:pPr>
            <a:r>
              <a:rPr b="1">
                <a:solidFill>
                  <a:srgbClr val="0F2D59"/>
                </a:solidFill>
              </a:rPr>
              <a:t>• Confusion Matrix:</a:t>
            </a:r>
            <a:r>
              <a:rPr b="0">
                <a:solidFill>
                  <a:srgbClr val="1E293B"/>
                </a:solidFill>
              </a:rPr>
              <a:t> Post-training analysis matrix to review where misclassifications happen (e.g. distinguishing hot days from active fires).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000" b="1">
                <a:solidFill>
                  <a:srgbClr val="0F2D59"/>
                </a:solidFill>
                <a:latin typeface="Calibri"/>
              </a:defRPr>
            </a:pPr>
            <a:r>
              <a:t>Expected Outcome</a:t>
            </a:r>
          </a:p>
        </p:txBody>
      </p:sp>
      <p:sp>
        <p:nvSpPr>
          <p:cNvPr id="4" name="TextBox 3"/>
          <p:cNvSpPr txBox="1"/>
          <p:nvPr/>
        </p:nvSpPr>
        <p:spPr>
          <a:xfrm>
            <a:off x="731520" y="1645920"/>
            <a:ext cx="10728655" cy="4572000"/>
          </a:xfrm>
          <a:prstGeom prst="rect">
            <a:avLst/>
          </a:prstGeom>
          <a:noFill/>
        </p:spPr>
        <p:txBody>
          <a:bodyPr wrap="square" lIns="0" tIns="0" rIns="0" bIns="0">
            <a:spAutoFit/>
          </a:bodyPr>
          <a:lstStyle/>
          <a:p>
            <a:pPr>
              <a:spcAft>
                <a:spcPts val="1000"/>
              </a:spcAft>
              <a:defRPr sz="1500">
                <a:solidFill>
                  <a:srgbClr val="1E293B"/>
                </a:solidFill>
                <a:latin typeface="Calibri"/>
              </a:defRPr>
            </a:pPr>
            <a:r>
              <a:rPr b="1">
                <a:solidFill>
                  <a:srgbClr val="0F2D59"/>
                </a:solidFill>
              </a:rPr>
              <a:t>• Early Hazard Flagging:</a:t>
            </a:r>
            <a:r>
              <a:rPr b="0">
                <a:solidFill>
                  <a:srgbClr val="1E293B"/>
                </a:solidFill>
              </a:rPr>
              <a:t> Predict fire risk up to 10 minutes earlier by correlating air dryness, heat index, and smoke presence.</a:t>
            </a:r>
          </a:p>
          <a:p>
            <a:pPr>
              <a:spcAft>
                <a:spcPts val="1000"/>
              </a:spcAft>
              <a:defRPr sz="1500">
                <a:solidFill>
                  <a:srgbClr val="1E293B"/>
                </a:solidFill>
                <a:latin typeface="Calibri"/>
              </a:defRPr>
            </a:pPr>
            <a:r>
              <a:rPr b="1">
                <a:solidFill>
                  <a:srgbClr val="0F2D59"/>
                </a:solidFill>
              </a:rPr>
              <a:t>• Localized Warning System:</a:t>
            </a:r>
            <a:r>
              <a:rPr b="0">
                <a:solidFill>
                  <a:srgbClr val="1E293B"/>
                </a:solidFill>
              </a:rPr>
              <a:t> Activating sirens and local LoRa distress messages instantly when sensor readings cross risk levels.</a:t>
            </a:r>
          </a:p>
          <a:p>
            <a:pPr>
              <a:spcAft>
                <a:spcPts val="1000"/>
              </a:spcAft>
              <a:defRPr sz="1500">
                <a:solidFill>
                  <a:srgbClr val="1E293B"/>
                </a:solidFill>
                <a:latin typeface="Calibri"/>
              </a:defRPr>
            </a:pPr>
            <a:r>
              <a:rPr b="1">
                <a:solidFill>
                  <a:srgbClr val="0F2D59"/>
                </a:solidFill>
              </a:rPr>
              <a:t>• Offline Resilience:</a:t>
            </a:r>
            <a:r>
              <a:rPr b="0">
                <a:solidFill>
                  <a:srgbClr val="1E293B"/>
                </a:solidFill>
              </a:rPr>
              <a:t> Real-time sensor mapping and communications functioning independently during telecom grid collapse.</a:t>
            </a:r>
          </a:p>
          <a:p>
            <a:pPr>
              <a:spcAft>
                <a:spcPts val="1000"/>
              </a:spcAft>
              <a:defRPr sz="1500">
                <a:solidFill>
                  <a:srgbClr val="1E293B"/>
                </a:solidFill>
                <a:latin typeface="Calibri"/>
              </a:defRPr>
            </a:pPr>
            <a:r>
              <a:rPr b="1">
                <a:solidFill>
                  <a:srgbClr val="0F2D59"/>
                </a:solidFill>
              </a:rPr>
              <a:t>• Solar-Powered Longevity:</a:t>
            </a:r>
            <a:r>
              <a:rPr b="0">
                <a:solidFill>
                  <a:srgbClr val="1E293B"/>
                </a:solidFill>
              </a:rPr>
              <a:t> Smart power cycling of the sensor nodes to ensure long-term, zero-maintenance off-grid deployments.</a:t>
            </a:r>
          </a:p>
          <a:p>
            <a:pPr>
              <a:spcAft>
                <a:spcPts val="1000"/>
              </a:spcAft>
              <a:defRPr sz="1500">
                <a:solidFill>
                  <a:srgbClr val="1E293B"/>
                </a:solidFill>
                <a:latin typeface="Calibri"/>
              </a:defRPr>
            </a:pPr>
            <a:r>
              <a:rPr b="1">
                <a:solidFill>
                  <a:srgbClr val="0F2D59"/>
                </a:solidFill>
              </a:rPr>
              <a:t>• Emergency Dashboard:</a:t>
            </a:r>
            <a:r>
              <a:rPr b="0">
                <a:solidFill>
                  <a:srgbClr val="1E293B"/>
                </a:solidFill>
              </a:rPr>
              <a:t> A browser visual panel showing historic logs, real-time values, and direct alert levels.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000" b="1">
                <a:solidFill>
                  <a:srgbClr val="0F2D59"/>
                </a:solidFill>
                <a:latin typeface="Calibri"/>
              </a:defRPr>
            </a:pPr>
            <a:r>
              <a:t>Conclusion and Future Scope</a:t>
            </a:r>
          </a:p>
        </p:txBody>
      </p:sp>
      <p:sp>
        <p:nvSpPr>
          <p:cNvPr id="4" name="TextBox 3"/>
          <p:cNvSpPr txBox="1"/>
          <p:nvPr/>
        </p:nvSpPr>
        <p:spPr>
          <a:xfrm>
            <a:off x="731520" y="1645920"/>
            <a:ext cx="5029200" cy="4114800"/>
          </a:xfrm>
          <a:prstGeom prst="rect">
            <a:avLst/>
          </a:prstGeom>
          <a:noFill/>
        </p:spPr>
        <p:txBody>
          <a:bodyPr wrap="square" lIns="0" tIns="0" rIns="0" bIns="0">
            <a:spAutoFit/>
          </a:bodyPr>
          <a:lstStyle/>
          <a:p>
            <a:pPr>
              <a:spcAft>
                <a:spcPts val="1200"/>
              </a:spcAft>
              <a:defRPr sz="1600" b="1">
                <a:solidFill>
                  <a:srgbClr val="0F2D59"/>
                </a:solidFill>
                <a:latin typeface="Calibri"/>
              </a:defRPr>
            </a:pPr>
            <a:r>
              <a:t>Proposed Conclusion</a:t>
            </a:r>
          </a:p>
          <a:p>
            <a:pPr>
              <a:spcAft>
                <a:spcPts val="800"/>
              </a:spcAft>
              <a:defRPr sz="1300">
                <a:solidFill>
                  <a:srgbClr val="1E293B"/>
                </a:solidFill>
                <a:latin typeface="Calibri"/>
              </a:defRPr>
            </a:pPr>
            <a:r>
              <a:t>• Proactive Safety: The system successfully transitions environmental monitoring from reactive recovery to localized forecasting.</a:t>
            </a:r>
          </a:p>
          <a:p>
            <a:pPr>
              <a:spcAft>
                <a:spcPts val="800"/>
              </a:spcAft>
              <a:defRPr sz="1300">
                <a:solidFill>
                  <a:srgbClr val="1E293B"/>
                </a:solidFill>
                <a:latin typeface="Calibri"/>
              </a:defRPr>
            </a:pPr>
            <a:r>
              <a:t>• Cost Efficiency: Built on cheap microcontrollers, making dense node networks highly affordable.</a:t>
            </a:r>
          </a:p>
          <a:p>
            <a:pPr>
              <a:spcAft>
                <a:spcPts val="800"/>
              </a:spcAft>
              <a:defRPr sz="1300">
                <a:solidFill>
                  <a:srgbClr val="1E293B"/>
                </a:solidFill>
                <a:latin typeface="Calibri"/>
              </a:defRPr>
            </a:pPr>
            <a:r>
              <a:t>• Resilience Focus: Edge intelligence combined with LoRa mesh ensures operation during storm events.</a:t>
            </a:r>
          </a:p>
        </p:txBody>
      </p:sp>
      <p:sp>
        <p:nvSpPr>
          <p:cNvPr id="5" name="TextBox 4"/>
          <p:cNvSpPr txBox="1"/>
          <p:nvPr/>
        </p:nvSpPr>
        <p:spPr>
          <a:xfrm>
            <a:off x="6217920" y="1645920"/>
            <a:ext cx="5212080" cy="4114800"/>
          </a:xfrm>
          <a:prstGeom prst="rect">
            <a:avLst/>
          </a:prstGeom>
          <a:noFill/>
        </p:spPr>
        <p:txBody>
          <a:bodyPr wrap="square" lIns="0" tIns="0" rIns="0" bIns="0">
            <a:spAutoFit/>
          </a:bodyPr>
          <a:lstStyle/>
          <a:p>
            <a:pPr>
              <a:spcAft>
                <a:spcPts val="1200"/>
              </a:spcAft>
              <a:defRPr sz="1600" b="1">
                <a:solidFill>
                  <a:srgbClr val="0F2D59"/>
                </a:solidFill>
                <a:latin typeface="Calibri"/>
              </a:defRPr>
            </a:pPr>
            <a:r>
              <a:t>Future Scope</a:t>
            </a:r>
          </a:p>
          <a:p>
            <a:pPr>
              <a:spcAft>
                <a:spcPts val="800"/>
              </a:spcAft>
              <a:defRPr sz="1300">
                <a:solidFill>
                  <a:srgbClr val="1E293B"/>
                </a:solidFill>
                <a:latin typeface="Calibri"/>
              </a:defRPr>
            </a:pPr>
            <a:r>
              <a:t>• Multi-Node Clustering: Scaling the network layout to cover regional forest boundaries and river channels.</a:t>
            </a:r>
          </a:p>
          <a:p>
            <a:pPr>
              <a:spcAft>
                <a:spcPts val="800"/>
              </a:spcAft>
              <a:defRPr sz="1300">
                <a:solidFill>
                  <a:srgbClr val="1E293B"/>
                </a:solidFill>
                <a:latin typeface="Calibri"/>
              </a:defRPr>
            </a:pPr>
            <a:r>
              <a:t>• On-Node ML (TinyML): Optimizing the Random Forest classifier weight matrix to execute directly on the ESP32 chip.</a:t>
            </a:r>
          </a:p>
          <a:p>
            <a:pPr>
              <a:spcAft>
                <a:spcPts val="800"/>
              </a:spcAft>
              <a:defRPr sz="1300">
                <a:solidFill>
                  <a:srgbClr val="1E293B"/>
                </a:solidFill>
                <a:latin typeface="Calibri"/>
              </a:defRPr>
            </a:pPr>
            <a:r>
              <a:t>• Landslide Prediction: Integrating soil moisture and tilt sensors for mountainous terrain hazard warnings.</a:t>
            </a:r>
          </a:p>
          <a:p>
            <a:pPr>
              <a:spcAft>
                <a:spcPts val="800"/>
              </a:spcAft>
              <a:defRPr sz="1300">
                <a:solidFill>
                  <a:srgbClr val="1E293B"/>
                </a:solidFill>
                <a:latin typeface="Calibri"/>
              </a:defRPr>
            </a:pPr>
            <a:r>
              <a:t>• GSM/Satellite Fallback: Incorporating low-bandwidth SMS links for long-range remote telemetry backups.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2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0" y="2011680"/>
            <a:ext cx="8534095" cy="2743200"/>
          </a:xfrm>
          <a:prstGeom prst="rect">
            <a:avLst/>
          </a:prstGeom>
          <a:noFill/>
        </p:spPr>
        <p:txBody>
          <a:bodyPr wrap="square" lIns="0" tIns="0" rIns="0" bIns="0">
            <a:spAutoFit/>
          </a:bodyPr>
          <a:lstStyle/>
          <a:p>
            <a:pPr algn="ctr">
              <a:spcAft>
                <a:spcPts val="2000"/>
              </a:spcAft>
              <a:defRPr sz="4800" b="1">
                <a:solidFill>
                  <a:srgbClr val="FFFFFF"/>
                </a:solidFill>
                <a:latin typeface="Calibri"/>
              </a:defRPr>
            </a:pPr>
            <a:r>
              <a:t>THANK YOU</a:t>
            </a:r>
          </a:p>
          <a:p>
            <a:pPr algn="ctr">
              <a:defRPr sz="2000">
                <a:solidFill>
                  <a:srgbClr val="EFF6FF"/>
                </a:solidFill>
                <a:latin typeface="Calibri"/>
              </a:defRPr>
            </a:pPr>
            <a:r>
              <a:t>Questions &amp; Feedback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2624</Words>
  <Application>Microsoft Office PowerPoint</Application>
  <PresentationFormat>Widescreen</PresentationFormat>
  <Paragraphs>232</Paragraphs>
  <Slides>22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Sam Priyan</cp:lastModifiedBy>
  <cp:revision>1</cp:revision>
  <dcterms:created xsi:type="dcterms:W3CDTF">2013-01-27T09:14:16Z</dcterms:created>
  <dcterms:modified xsi:type="dcterms:W3CDTF">2026-08-29T12:42:02Z</dcterms:modified>
  <cp:category/>
</cp:coreProperties>
</file>